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776" r:id="rId2"/>
    <p:sldId id="792" r:id="rId3"/>
    <p:sldId id="793" r:id="rId4"/>
    <p:sldId id="778" r:id="rId5"/>
    <p:sldId id="779" r:id="rId6"/>
    <p:sldId id="780" r:id="rId7"/>
    <p:sldId id="781" r:id="rId8"/>
    <p:sldId id="794" r:id="rId9"/>
    <p:sldId id="782" r:id="rId10"/>
    <p:sldId id="784" r:id="rId11"/>
    <p:sldId id="785" r:id="rId12"/>
    <p:sldId id="795" r:id="rId13"/>
    <p:sldId id="791" r:id="rId14"/>
    <p:sldId id="789" r:id="rId15"/>
    <p:sldId id="790" r:id="rId16"/>
    <p:sldId id="7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meel.mohammed" initials="j" lastIdx="4" clrIdx="0">
    <p:extLst>
      <p:ext uri="{19B8F6BF-5375-455C-9EA6-DF929625EA0E}">
        <p15:presenceInfo xmlns:p15="http://schemas.microsoft.com/office/powerpoint/2012/main" userId="S::jameel.mohammed@gtbank.com::8bf4197d-c6f5-4991-aad9-890a3358aaa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A32"/>
    <a:srgbClr val="48C269"/>
    <a:srgbClr val="AEC1D6"/>
    <a:srgbClr val="E05858"/>
    <a:srgbClr val="C00000"/>
    <a:srgbClr val="951512"/>
    <a:srgbClr val="13AAE3"/>
    <a:srgbClr val="1D301D"/>
    <a:srgbClr val="2D0C0B"/>
    <a:srgbClr val="2D23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68"/>
  </p:normalViewPr>
  <p:slideViewPr>
    <p:cSldViewPr snapToGrid="0">
      <p:cViewPr>
        <p:scale>
          <a:sx n="56" d="100"/>
          <a:sy n="56" d="100"/>
        </p:scale>
        <p:origin x="1000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7B0EE6-B5B7-3A49-89CA-9A5B71D4E96D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9FD08-CB9A-4B45-81B2-E2AF39340B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46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D3980-1BE4-4EA0-AFE8-DEBBB7E98ED8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33871" y="5950941"/>
            <a:ext cx="838199" cy="767687"/>
          </a:xfrm>
          <a:solidFill>
            <a:srgbClr val="002060"/>
          </a:solidFill>
          <a:ln>
            <a:noFill/>
          </a:ln>
        </p:spPr>
        <p:txBody>
          <a:bodyPr/>
          <a:lstStyle>
            <a:lvl1pPr>
              <a:defRPr sz="1800">
                <a:latin typeface="Impact" panose="020B0806030902050204" pitchFamily="34" charset="0"/>
              </a:defRPr>
            </a:lvl1pPr>
          </a:lstStyle>
          <a:p>
            <a:fld id="{0640E3C0-C453-4EF2-AF19-A3A0E345BD11}" type="slidenum">
              <a:rPr lang="x-none" smtClean="0"/>
              <a:pPr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771379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9B88F-B81B-4DF5-96D8-F61244E53FC2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0672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5A039-0E51-461A-8622-15A5E13F86B6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834586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91D11-83C1-4999-8EB9-D21F0C2C45E5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80478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30B91-39FA-4C18-8402-A496BDBE7F01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7038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0734E-F246-4DC0-A1BA-15AC00174677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35501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78C9A-EA5D-490D-AE8C-D327A2803786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3249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16858-DBAC-4427-9F06-6E2C40EF0EF8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50534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E48BC-2508-4BDA-A51D-38715D132209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72424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8759D-982F-4D6A-8609-6E67186CDD67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258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8F5F9-A9DA-4D43-9599-534BC2C6D54E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99853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861AE-DF13-457A-A882-632CF2E67E45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53672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24E5-A055-4755-9E11-7936C60EE0D4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32134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3E4D9-7E9A-4F71-9805-7E6B9C8FEF63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9580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CBFCE-9733-4329-9EFA-D4678E22454D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46277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7833-7F56-41D7-B84B-3E9293C49F5F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868173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AC03-4B2D-46B3-8358-EAC599284E6E}" type="datetime8">
              <a:rPr lang="en-US" smtClean="0"/>
              <a:t>8/13/2026 10:38 AM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E3C0-C453-4EF2-AF19-A3A0E345BD11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007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F1B2896-94AD-4243-9D8A-D7E36B4AE1F2}" type="datetime8">
              <a:rPr lang="en-US" smtClean="0"/>
              <a:t>8/13/2026 10:38 AM</a:t>
            </a:fld>
            <a:endParaRPr lang="x-non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x-non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1088688" y="6090313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0E3C0-C453-4EF2-AF19-A3A0E345BD11}" type="slidenum">
              <a:rPr lang="x-none" smtClean="0"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20188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A655D-3785-4060-8E50-38F808B4A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740" y="2734776"/>
            <a:ext cx="11336471" cy="1709805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FF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CYBERSECURITY &amp; PHYSICAL SECURITY ASSESSMENT</a:t>
            </a:r>
            <a:br>
              <a:rPr lang="en-US" sz="3600" b="1" dirty="0">
                <a:solidFill>
                  <a:srgbClr val="FFFF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200" b="1" dirty="0" err="1">
                <a:solidFill>
                  <a:srgbClr val="FFFF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Defence</a:t>
            </a:r>
            <a:r>
              <a:rPr lang="en-US" sz="3200" b="1" dirty="0">
                <a:solidFill>
                  <a:srgbClr val="FFFF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 Intelligence College (DIC) CCC299 Capstone </a:t>
            </a:r>
            <a:br>
              <a:rPr lang="en-US" sz="3200" b="1" dirty="0">
                <a:solidFill>
                  <a:srgbClr val="FFFF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FFFF00"/>
                </a:solidFill>
                <a:ea typeface="Tahoma" panose="020B0604030504040204" pitchFamily="34" charset="0"/>
                <a:cs typeface="Times New Roman" panose="02020603050405020304" pitchFamily="18" charset="0"/>
              </a:rPr>
              <a:t>Project - Phase 2</a:t>
            </a:r>
            <a:endParaRPr lang="x-none" sz="3200" b="1" dirty="0">
              <a:solidFill>
                <a:srgbClr val="FFFF00"/>
              </a:solidFill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0322B-79EA-4D00-B962-20CBDF3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rot="10800000" flipV="1">
            <a:off x="319930" y="4860990"/>
            <a:ext cx="11750253" cy="3715275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FFFF00"/>
                </a:solidFill>
                <a:cs typeface="Times New Roman" panose="02020603050405020304" pitchFamily="18" charset="0"/>
              </a:rPr>
              <a:t>PRESENTED </a:t>
            </a:r>
          </a:p>
          <a:p>
            <a:pPr algn="ctr"/>
            <a:r>
              <a:rPr lang="en-US" b="1" dirty="0">
                <a:solidFill>
                  <a:srgbClr val="FFFF00"/>
                </a:solidFill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US" sz="3200" b="1" dirty="0" err="1">
                <a:solidFill>
                  <a:srgbClr val="FFFF00"/>
                </a:solidFill>
                <a:cs typeface="Times New Roman" panose="02020603050405020304" pitchFamily="18" charset="0"/>
              </a:rPr>
              <a:t>Adeshina</a:t>
            </a:r>
            <a:r>
              <a:rPr lang="en-US" sz="3200" b="1" dirty="0">
                <a:solidFill>
                  <a:srgbClr val="FFFF00"/>
                </a:solidFill>
                <a:cs typeface="Times New Roman" panose="02020603050405020304" pitchFamily="18" charset="0"/>
              </a:rPr>
              <a:t> Kolawole TAJUDEEN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2910F-EBED-48A4-8ACE-BBC1B904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0462" y="5941515"/>
            <a:ext cx="256477" cy="767687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1</a:t>
            </a:fld>
            <a:endParaRPr lang="x-none" dirty="0">
              <a:solidFill>
                <a:srgbClr val="FFFF00"/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3A65EB-5B41-4961-9999-B20B1606F2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5087928" y="427839"/>
            <a:ext cx="2016144" cy="2071889"/>
          </a:xfrm>
          <a:prstGeom prst="flowChartConnector">
            <a:avLst/>
          </a:prstGeom>
          <a:ln w="76200">
            <a:solidFill>
              <a:srgbClr val="FFFF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BC80AD-A2D0-D2E6-9087-58F0583679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45EC793-D2A7-C5DE-6302-2C21E7441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052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2910F-EBED-48A4-8ACE-BBC1B9048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72070" y="5950941"/>
            <a:ext cx="45719" cy="767687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  <a:latin typeface="Impact" panose="020B0806030902050204" pitchFamily="34" charset="0"/>
                <a:cs typeface="Times New Roman" panose="02020603050405020304" pitchFamily="18" charset="0"/>
              </a:rPr>
              <a:t>2</a:t>
            </a:fld>
            <a:endParaRPr lang="x-none" dirty="0">
              <a:solidFill>
                <a:srgbClr val="FFFF00"/>
              </a:solidFill>
              <a:latin typeface="Impact" panose="020B080603090205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1E960E-D395-3699-BAAD-8A66B1A81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4191" y="217962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ENGAGEMENT OBJECTIVES AND SCOPE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8225E58-D858-05E2-E948-FE50193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923E81E-058A-3BC4-B808-B9AC4B199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C0AF042D-D53E-14C5-5A57-99CFEF77161F}"/>
              </a:ext>
            </a:extLst>
          </p:cNvPr>
          <p:cNvSpPr txBox="1"/>
          <p:nvPr/>
        </p:nvSpPr>
        <p:spPr>
          <a:xfrm>
            <a:off x="282448" y="936949"/>
            <a:ext cx="1062823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 dirty="0">
                <a:solidFill>
                  <a:srgbClr val="FFFF00"/>
                </a:solidFill>
                <a:latin typeface="+mj-lt"/>
              </a:rPr>
              <a:t>Four assessment pillars covering the institution's physical, cyber, human and external exposure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A40332-F916-9EA6-BC66-9C644AEB474E}"/>
              </a:ext>
            </a:extLst>
          </p:cNvPr>
          <p:cNvSpPr/>
          <p:nvPr/>
        </p:nvSpPr>
        <p:spPr>
          <a:xfrm>
            <a:off x="374904" y="1315670"/>
            <a:ext cx="2073656" cy="65199"/>
          </a:xfrm>
          <a:prstGeom prst="rect">
            <a:avLst/>
          </a:prstGeom>
          <a:solidFill>
            <a:srgbClr val="FFFF00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45" name="Rounded Rectangle 5">
            <a:extLst>
              <a:ext uri="{FF2B5EF4-FFF2-40B4-BE49-F238E27FC236}">
                <a16:creationId xmlns:a16="http://schemas.microsoft.com/office/drawing/2014/main" id="{264F6195-937B-EB1C-3AA9-6F361E41C9B3}"/>
              </a:ext>
            </a:extLst>
          </p:cNvPr>
          <p:cNvSpPr/>
          <p:nvPr/>
        </p:nvSpPr>
        <p:spPr>
          <a:xfrm>
            <a:off x="384048" y="2409952"/>
            <a:ext cx="2761488" cy="1874519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7E9A85-2BEE-6157-5121-71E1F0B05B13}"/>
              </a:ext>
            </a:extLst>
          </p:cNvPr>
          <p:cNvSpPr txBox="1"/>
          <p:nvPr/>
        </p:nvSpPr>
        <p:spPr>
          <a:xfrm>
            <a:off x="548640" y="2684272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i="0">
                <a:solidFill>
                  <a:srgbClr val="1FA8EE"/>
                </a:solidFill>
                <a:latin typeface="Aptos"/>
              </a:rPr>
              <a:t>PHYSICAL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B7CCA9-8220-25B8-48D2-36E85A368267}"/>
              </a:ext>
            </a:extLst>
          </p:cNvPr>
          <p:cNvSpPr txBox="1"/>
          <p:nvPr/>
        </p:nvSpPr>
        <p:spPr>
          <a:xfrm>
            <a:off x="548640" y="3303831"/>
            <a:ext cx="2250937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Perimeter • Access • CCTV </a:t>
            </a:r>
            <a:endParaRPr lang="en-US" sz="1200" b="0" i="0" dirty="0">
              <a:solidFill>
                <a:srgbClr val="FFFF00"/>
              </a:solidFill>
              <a:latin typeface="+mj-lt"/>
            </a:endParaRPr>
          </a:p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• Server Environment</a:t>
            </a:r>
          </a:p>
        </p:txBody>
      </p:sp>
      <p:sp>
        <p:nvSpPr>
          <p:cNvPr id="49" name="Rounded Rectangle 9">
            <a:extLst>
              <a:ext uri="{FF2B5EF4-FFF2-40B4-BE49-F238E27FC236}">
                <a16:creationId xmlns:a16="http://schemas.microsoft.com/office/drawing/2014/main" id="{5BAD0F81-6C00-A0F7-F88C-451417425E9A}"/>
              </a:ext>
            </a:extLst>
          </p:cNvPr>
          <p:cNvSpPr/>
          <p:nvPr/>
        </p:nvSpPr>
        <p:spPr>
          <a:xfrm>
            <a:off x="3300984" y="2409952"/>
            <a:ext cx="2761488" cy="1874519"/>
          </a:xfrm>
          <a:prstGeom prst="roundRect">
            <a:avLst/>
          </a:prstGeom>
          <a:solidFill>
            <a:srgbClr val="081F3D"/>
          </a:solidFill>
          <a:ln>
            <a:solidFill>
              <a:srgbClr val="4B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69F28B7-DBC8-F614-6187-59EBE6DCA7E1}"/>
              </a:ext>
            </a:extLst>
          </p:cNvPr>
          <p:cNvSpPr txBox="1"/>
          <p:nvPr/>
        </p:nvSpPr>
        <p:spPr>
          <a:xfrm>
            <a:off x="3465576" y="2684272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i="0">
                <a:solidFill>
                  <a:srgbClr val="4BCAFF"/>
                </a:solidFill>
                <a:latin typeface="Aptos"/>
              </a:rPr>
              <a:t>CYBER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4471EE-35AA-F64D-AF21-62BBCE873CAD}"/>
              </a:ext>
            </a:extLst>
          </p:cNvPr>
          <p:cNvSpPr txBox="1"/>
          <p:nvPr/>
        </p:nvSpPr>
        <p:spPr>
          <a:xfrm>
            <a:off x="3465576" y="3303831"/>
            <a:ext cx="2366353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ICT Systems • Authentication </a:t>
            </a:r>
            <a:endParaRPr lang="en-US" sz="1200" b="0" i="0" dirty="0">
              <a:solidFill>
                <a:srgbClr val="FFFF00"/>
              </a:solidFill>
              <a:latin typeface="+mj-lt"/>
            </a:endParaRPr>
          </a:p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• Endpoints • Backups</a:t>
            </a:r>
          </a:p>
        </p:txBody>
      </p:sp>
      <p:sp>
        <p:nvSpPr>
          <p:cNvPr id="53" name="Rounded Rectangle 13">
            <a:extLst>
              <a:ext uri="{FF2B5EF4-FFF2-40B4-BE49-F238E27FC236}">
                <a16:creationId xmlns:a16="http://schemas.microsoft.com/office/drawing/2014/main" id="{B397E11B-15A4-2010-2B60-8704DF751B03}"/>
              </a:ext>
            </a:extLst>
          </p:cNvPr>
          <p:cNvSpPr/>
          <p:nvPr/>
        </p:nvSpPr>
        <p:spPr>
          <a:xfrm>
            <a:off x="6217920" y="2409952"/>
            <a:ext cx="2761488" cy="1874519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C1F8A3-DDC6-84DF-2DDC-9D9ADA4EF2E6}"/>
              </a:ext>
            </a:extLst>
          </p:cNvPr>
          <p:cNvSpPr txBox="1"/>
          <p:nvPr/>
        </p:nvSpPr>
        <p:spPr>
          <a:xfrm>
            <a:off x="6382512" y="2684272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i="0">
                <a:solidFill>
                  <a:srgbClr val="48C269"/>
                </a:solidFill>
                <a:latin typeface="Aptos"/>
              </a:rPr>
              <a:t>HUMAN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24ADEF-6DD6-560C-DDEA-3D89BCA01BEF}"/>
              </a:ext>
            </a:extLst>
          </p:cNvPr>
          <p:cNvSpPr txBox="1"/>
          <p:nvPr/>
        </p:nvSpPr>
        <p:spPr>
          <a:xfrm>
            <a:off x="6382512" y="3303831"/>
            <a:ext cx="243528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Management • ICT Personnel </a:t>
            </a:r>
            <a:endParaRPr lang="en-US" sz="1200" b="0" i="0" dirty="0">
              <a:solidFill>
                <a:srgbClr val="FFFF00"/>
              </a:solidFill>
              <a:latin typeface="+mj-lt"/>
            </a:endParaRPr>
          </a:p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• General Staff • Awareness</a:t>
            </a:r>
          </a:p>
        </p:txBody>
      </p:sp>
      <p:sp>
        <p:nvSpPr>
          <p:cNvPr id="57" name="Rounded Rectangle 17">
            <a:extLst>
              <a:ext uri="{FF2B5EF4-FFF2-40B4-BE49-F238E27FC236}">
                <a16:creationId xmlns:a16="http://schemas.microsoft.com/office/drawing/2014/main" id="{F2BED358-78C0-6034-902C-226B3F2FF8E5}"/>
              </a:ext>
            </a:extLst>
          </p:cNvPr>
          <p:cNvSpPr/>
          <p:nvPr/>
        </p:nvSpPr>
        <p:spPr>
          <a:xfrm>
            <a:off x="9134856" y="2409952"/>
            <a:ext cx="2761488" cy="1874519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B1CB00C-592D-275E-6C84-2FF208424545}"/>
              </a:ext>
            </a:extLst>
          </p:cNvPr>
          <p:cNvSpPr txBox="1"/>
          <p:nvPr/>
        </p:nvSpPr>
        <p:spPr>
          <a:xfrm>
            <a:off x="9299448" y="2684272"/>
            <a:ext cx="24231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i="0">
                <a:solidFill>
                  <a:srgbClr val="F4B73A"/>
                </a:solidFill>
                <a:latin typeface="Aptos"/>
              </a:rPr>
              <a:t>OSINT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196E39-CD6D-DE6B-8666-9679CE961959}"/>
              </a:ext>
            </a:extLst>
          </p:cNvPr>
          <p:cNvSpPr txBox="1"/>
          <p:nvPr/>
        </p:nvSpPr>
        <p:spPr>
          <a:xfrm>
            <a:off x="9299448" y="3211498"/>
            <a:ext cx="2596896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Public Footprint • Digital Exposure </a:t>
            </a:r>
            <a:endParaRPr lang="en-US" sz="1200" b="0" i="0" dirty="0">
              <a:solidFill>
                <a:srgbClr val="FFFF00"/>
              </a:solidFill>
              <a:latin typeface="+mj-lt"/>
            </a:endParaRPr>
          </a:p>
          <a:p>
            <a:pPr algn="l"/>
            <a:r>
              <a:rPr sz="1200" b="0" i="0" dirty="0">
                <a:solidFill>
                  <a:srgbClr val="FFFF00"/>
                </a:solidFill>
                <a:latin typeface="+mj-lt"/>
              </a:rPr>
              <a:t>• Authentication Surfaces</a:t>
            </a:r>
          </a:p>
        </p:txBody>
      </p:sp>
      <p:sp>
        <p:nvSpPr>
          <p:cNvPr id="61" name="Rounded Rectangle 21">
            <a:extLst>
              <a:ext uri="{FF2B5EF4-FFF2-40B4-BE49-F238E27FC236}">
                <a16:creationId xmlns:a16="http://schemas.microsoft.com/office/drawing/2014/main" id="{75860693-1B6C-7340-BBC0-93486D975649}"/>
              </a:ext>
            </a:extLst>
          </p:cNvPr>
          <p:cNvSpPr/>
          <p:nvPr/>
        </p:nvSpPr>
        <p:spPr>
          <a:xfrm>
            <a:off x="393192" y="4862646"/>
            <a:ext cx="11420856" cy="1051560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8C1EA2-CD73-763B-0EE1-07405E9E912B}"/>
              </a:ext>
            </a:extLst>
          </p:cNvPr>
          <p:cNvSpPr txBox="1"/>
          <p:nvPr/>
        </p:nvSpPr>
        <p:spPr>
          <a:xfrm>
            <a:off x="651085" y="5188371"/>
            <a:ext cx="1899623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i="0" dirty="0">
                <a:solidFill>
                  <a:srgbClr val="4BCAFF"/>
                </a:solidFill>
                <a:latin typeface="Aptos"/>
              </a:rPr>
              <a:t>FRAMEWORKS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8A2B26-4B90-AD69-17D6-6EFA4BB06565}"/>
              </a:ext>
            </a:extLst>
          </p:cNvPr>
          <p:cNvSpPr txBox="1"/>
          <p:nvPr/>
        </p:nvSpPr>
        <p:spPr>
          <a:xfrm>
            <a:off x="3387541" y="5188371"/>
            <a:ext cx="81469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i="0" dirty="0">
                <a:solidFill>
                  <a:srgbClr val="FFFF00"/>
                </a:solidFill>
                <a:latin typeface="Aptos"/>
              </a:rPr>
              <a:t>NIST CSF 2.0   |   ISO/IEC 27001:2022   |   CIS Controls v8   |   NDPA 2023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26D483-4C17-5C0B-F7ED-3441512A35CC}"/>
              </a:ext>
            </a:extLst>
          </p:cNvPr>
          <p:cNvSpPr txBox="1"/>
          <p:nvPr/>
        </p:nvSpPr>
        <p:spPr>
          <a:xfrm>
            <a:off x="393192" y="6219524"/>
            <a:ext cx="10996168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 i="0">
                <a:solidFill>
                  <a:srgbClr val="AEC1D6"/>
                </a:solidFill>
                <a:latin typeface="Aptos"/>
              </a:rPr>
              <a:t>Objective: identify exposed assets, evaluate existing controls, validate residual risk and develop a practical three-year improvement programme.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89C09F2-74F5-E09B-345F-B48C6A6F54FB}"/>
              </a:ext>
            </a:extLst>
          </p:cNvPr>
          <p:cNvSpPr/>
          <p:nvPr/>
        </p:nvSpPr>
        <p:spPr>
          <a:xfrm>
            <a:off x="4265744" y="1878142"/>
            <a:ext cx="799104" cy="74033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174237B3-33E5-2522-3D4A-076E58CF15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409" y="1899845"/>
            <a:ext cx="816935" cy="755970"/>
          </a:xfrm>
          <a:prstGeom prst="rect">
            <a:avLst/>
          </a:prstGeom>
        </p:spPr>
      </p:pic>
      <p:sp>
        <p:nvSpPr>
          <p:cNvPr id="67" name="Oval 66">
            <a:extLst>
              <a:ext uri="{FF2B5EF4-FFF2-40B4-BE49-F238E27FC236}">
                <a16:creationId xmlns:a16="http://schemas.microsoft.com/office/drawing/2014/main" id="{625991F8-F92A-1A96-B3DC-ED9ED9135711}"/>
              </a:ext>
            </a:extLst>
          </p:cNvPr>
          <p:cNvSpPr/>
          <p:nvPr/>
        </p:nvSpPr>
        <p:spPr>
          <a:xfrm>
            <a:off x="10129767" y="1913334"/>
            <a:ext cx="799104" cy="74033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C855E0F-7E3A-222E-7884-6601FC761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948" y="1899845"/>
            <a:ext cx="816935" cy="75597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59E8F06A-361F-F6F2-C2EE-C690097A39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36279" y="2090459"/>
            <a:ext cx="386080" cy="38608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427EE0E1-0066-6165-0F9C-FF2136F58BA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0983" y="2068875"/>
            <a:ext cx="460863" cy="460863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A2DD4079-E18C-03B3-1976-328EEBF0C4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31783" y="2052830"/>
            <a:ext cx="450000" cy="450000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3ABADE53-F636-DB30-BA8F-D67A1A9659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75364" y="2039222"/>
            <a:ext cx="444146" cy="44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61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95760" y="5950941"/>
            <a:ext cx="76310" cy="767687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3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EXECUTIVE SUMMARY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93CE208-022B-5899-45CD-29553A98A5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3D00290-A7D8-B504-F91F-4783F7325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309570-5CD3-4579-4E51-DD8BD2C9D5E2}"/>
              </a:ext>
            </a:extLst>
          </p:cNvPr>
          <p:cNvSpPr txBox="1"/>
          <p:nvPr/>
        </p:nvSpPr>
        <p:spPr>
          <a:xfrm>
            <a:off x="282448" y="936949"/>
            <a:ext cx="324479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b="1" i="0" dirty="0">
                <a:solidFill>
                  <a:srgbClr val="FFFF00"/>
                </a:solidFill>
                <a:latin typeface="+mj-lt"/>
              </a:rPr>
              <a:t>OVERALL SECURITY POSTURE</a:t>
            </a:r>
            <a:endParaRPr b="1" i="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22AE2-7358-A5F1-17E9-AFD3031B2F0E}"/>
              </a:ext>
            </a:extLst>
          </p:cNvPr>
          <p:cNvSpPr/>
          <p:nvPr/>
        </p:nvSpPr>
        <p:spPr>
          <a:xfrm>
            <a:off x="374904" y="1315670"/>
            <a:ext cx="2073656" cy="65199"/>
          </a:xfrm>
          <a:prstGeom prst="rect">
            <a:avLst/>
          </a:prstGeom>
          <a:solidFill>
            <a:srgbClr val="FFFF00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5916D2FD-9029-2111-AC5C-F9B2FE973944}"/>
              </a:ext>
            </a:extLst>
          </p:cNvPr>
          <p:cNvSpPr/>
          <p:nvPr/>
        </p:nvSpPr>
        <p:spPr>
          <a:xfrm>
            <a:off x="447482" y="1865668"/>
            <a:ext cx="4805237" cy="3118653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A7D40D-5CE7-3816-7496-C5C17D961629}"/>
              </a:ext>
            </a:extLst>
          </p:cNvPr>
          <p:cNvSpPr txBox="1"/>
          <p:nvPr/>
        </p:nvSpPr>
        <p:spPr>
          <a:xfrm>
            <a:off x="618544" y="2095440"/>
            <a:ext cx="3330912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400" b="1" dirty="0">
                <a:solidFill>
                  <a:srgbClr val="1FA8EE"/>
                </a:solidFill>
                <a:latin typeface="Aptos"/>
              </a:rPr>
              <a:t>WHAT DIC DOES WELL</a:t>
            </a:r>
            <a:endParaRPr sz="2400" b="1" i="0" dirty="0">
              <a:solidFill>
                <a:srgbClr val="1FA8EE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AD74C-BC05-B466-CFA4-571BD30FEAA1}"/>
              </a:ext>
            </a:extLst>
          </p:cNvPr>
          <p:cNvSpPr txBox="1"/>
          <p:nvPr/>
        </p:nvSpPr>
        <p:spPr>
          <a:xfrm>
            <a:off x="618544" y="2491344"/>
            <a:ext cx="4230645" cy="19389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FFFF00"/>
                </a:solidFill>
                <a:latin typeface="Century Gothic" panose="020B0502020202020204" pitchFamily="34" charset="0"/>
              </a:rPr>
              <a:t>Strong perimeter protection</a:t>
            </a:r>
          </a:p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Air-gapped classified network</a:t>
            </a:r>
            <a:endParaRPr lang="en-US" sz="1800" b="0" i="0" u="none" strike="noStrike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MFA and EDR</a:t>
            </a:r>
            <a:endParaRPr lang="en-US" sz="1800" b="0" i="0" u="none" strike="noStrike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Mature backup/DR arrangements</a:t>
            </a:r>
            <a:endParaRPr lang="en-US" sz="1800" b="0" i="0" u="none" strike="noStrike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sz="1200" b="0" i="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061D9A8E-64CE-B440-2ABD-C733C56E125A}"/>
              </a:ext>
            </a:extLst>
          </p:cNvPr>
          <p:cNvSpPr/>
          <p:nvPr/>
        </p:nvSpPr>
        <p:spPr>
          <a:xfrm>
            <a:off x="6523162" y="1875828"/>
            <a:ext cx="4805237" cy="3118653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47F1D-1863-7A8F-A4C5-823ECADF4743}"/>
              </a:ext>
            </a:extLst>
          </p:cNvPr>
          <p:cNvSpPr txBox="1"/>
          <p:nvPr/>
        </p:nvSpPr>
        <p:spPr>
          <a:xfrm>
            <a:off x="6694224" y="2105600"/>
            <a:ext cx="3120534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400" b="1" i="0" dirty="0">
                <a:solidFill>
                  <a:srgbClr val="1FA8EE"/>
                </a:solidFill>
                <a:latin typeface="Aptos"/>
              </a:rPr>
              <a:t>KEY RESIDUAL RISKS</a:t>
            </a:r>
            <a:endParaRPr sz="2400" b="1" i="0" dirty="0">
              <a:solidFill>
                <a:srgbClr val="1FA8EE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28FC22-4796-F672-F881-BDDA1E9DA7D3}"/>
              </a:ext>
            </a:extLst>
          </p:cNvPr>
          <p:cNvSpPr txBox="1"/>
          <p:nvPr/>
        </p:nvSpPr>
        <p:spPr>
          <a:xfrm>
            <a:off x="6694224" y="2491344"/>
            <a:ext cx="4439036" cy="235449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Specialist cybersecurity personnel </a:t>
            </a:r>
          </a:p>
          <a:p>
            <a:pPr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shortage</a:t>
            </a:r>
            <a:endParaRPr lang="en-US" sz="1800" b="0" i="0" u="none" strike="noStrike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Public-facing digital footprint</a:t>
            </a:r>
            <a:endParaRPr lang="en-US" sz="1800" b="0" i="0" u="none" strike="noStrike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Selected physical/CCTV blind spots</a:t>
            </a:r>
            <a:endParaRPr lang="en-US" sz="1800" b="0" i="0" u="none" strike="noStrike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285750" indent="-285750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800" b="1" i="0" u="none" strike="noStrike" kern="1200" dirty="0">
                <a:solidFill>
                  <a:srgbClr val="FFFF00"/>
                </a:solidFill>
                <a:effectLst/>
                <a:latin typeface="Century Gothic" panose="020B0502020202020204" pitchFamily="34" charset="0"/>
              </a:rPr>
              <a:t>Evolving APT threat</a:t>
            </a:r>
            <a:endParaRPr lang="en-US" sz="1800" b="0" i="0" u="none" strike="noStrike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en-US" sz="1200" b="0" i="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33" name="Rounded Rectangle 21">
            <a:extLst>
              <a:ext uri="{FF2B5EF4-FFF2-40B4-BE49-F238E27FC236}">
                <a16:creationId xmlns:a16="http://schemas.microsoft.com/office/drawing/2014/main" id="{8EEB5057-28BA-5BB5-1F73-8BB5BD5C2C7C}"/>
              </a:ext>
            </a:extLst>
          </p:cNvPr>
          <p:cNvSpPr/>
          <p:nvPr/>
        </p:nvSpPr>
        <p:spPr>
          <a:xfrm>
            <a:off x="374904" y="5364897"/>
            <a:ext cx="11420856" cy="1051560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45597A-5BE2-9DD4-A770-C2517FEE9FFC}"/>
              </a:ext>
            </a:extLst>
          </p:cNvPr>
          <p:cNvSpPr txBox="1"/>
          <p:nvPr/>
        </p:nvSpPr>
        <p:spPr>
          <a:xfrm>
            <a:off x="632797" y="5690622"/>
            <a:ext cx="2640210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sz="2000" b="1" dirty="0">
                <a:solidFill>
                  <a:srgbClr val="4BCAFF"/>
                </a:solidFill>
                <a:latin typeface="Aptos"/>
              </a:rPr>
              <a:t>STRATEGIC PRIORITY</a:t>
            </a:r>
            <a:endParaRPr sz="2000" b="1" i="0" dirty="0">
              <a:solidFill>
                <a:srgbClr val="4BCAFF"/>
              </a:solidFill>
              <a:latin typeface="Apto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FB20BF-C150-9014-C9F8-0B49649A40E0}"/>
              </a:ext>
            </a:extLst>
          </p:cNvPr>
          <p:cNvSpPr txBox="1"/>
          <p:nvPr/>
        </p:nvSpPr>
        <p:spPr>
          <a:xfrm>
            <a:off x="3273007" y="5710391"/>
            <a:ext cx="8692608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600" b="1" i="0" dirty="0">
                <a:solidFill>
                  <a:srgbClr val="FFFF00"/>
                </a:solidFill>
                <a:latin typeface="+mj-lt"/>
              </a:rPr>
              <a:t>Strengthen specialist capability while continuously testing and improving existing controls.</a:t>
            </a:r>
            <a:endParaRPr sz="1600" b="1" i="0" dirty="0">
              <a:solidFill>
                <a:srgbClr val="FFF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466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CC7E82FB-DAAE-2858-8E4A-787AF9920A00}"/>
              </a:ext>
            </a:extLst>
          </p:cNvPr>
          <p:cNvGrpSpPr/>
          <p:nvPr/>
        </p:nvGrpSpPr>
        <p:grpSpPr>
          <a:xfrm>
            <a:off x="4350751" y="2154930"/>
            <a:ext cx="1285528" cy="1829946"/>
            <a:chOff x="4074160" y="2143760"/>
            <a:chExt cx="1285528" cy="1829946"/>
          </a:xfrm>
        </p:grpSpPr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AA035E7A-83AB-1F59-E30D-DC0E4620135C}"/>
                </a:ext>
              </a:extLst>
            </p:cNvPr>
            <p:cNvCxnSpPr>
              <a:cxnSpLocks/>
            </p:cNvCxnSpPr>
            <p:nvPr/>
          </p:nvCxnSpPr>
          <p:spPr>
            <a:xfrm>
              <a:off x="4074160" y="3215318"/>
              <a:ext cx="1285528" cy="758388"/>
            </a:xfrm>
            <a:prstGeom prst="bentConnector3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36BBAFC5-81C8-B650-C694-E2EBC37A7F04}"/>
                </a:ext>
              </a:extLst>
            </p:cNvPr>
            <p:cNvCxnSpPr/>
            <p:nvPr/>
          </p:nvCxnSpPr>
          <p:spPr>
            <a:xfrm>
              <a:off x="4074160" y="2143760"/>
              <a:ext cx="333973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A52DCD5-FD60-E0B3-34DA-FF8124686075}"/>
                </a:ext>
              </a:extLst>
            </p:cNvPr>
            <p:cNvCxnSpPr/>
            <p:nvPr/>
          </p:nvCxnSpPr>
          <p:spPr>
            <a:xfrm>
              <a:off x="4408133" y="2143760"/>
              <a:ext cx="0" cy="105006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72070" y="5950941"/>
            <a:ext cx="45719" cy="767687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4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CURRENT THREAT LANDSCAPE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BE08566-490E-5B93-9421-F56CD99D00B8}"/>
              </a:ext>
            </a:extLst>
          </p:cNvPr>
          <p:cNvGrpSpPr/>
          <p:nvPr/>
        </p:nvGrpSpPr>
        <p:grpSpPr>
          <a:xfrm flipH="1">
            <a:off x="6624625" y="2147383"/>
            <a:ext cx="1285528" cy="1829946"/>
            <a:chOff x="4074160" y="2143760"/>
            <a:chExt cx="1285528" cy="1829946"/>
          </a:xfrm>
        </p:grpSpPr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258E101D-5215-10FB-94A0-DCD6432D67B4}"/>
                </a:ext>
              </a:extLst>
            </p:cNvPr>
            <p:cNvCxnSpPr>
              <a:cxnSpLocks/>
            </p:cNvCxnSpPr>
            <p:nvPr/>
          </p:nvCxnSpPr>
          <p:spPr>
            <a:xfrm>
              <a:off x="4074160" y="3215318"/>
              <a:ext cx="1285528" cy="758388"/>
            </a:xfrm>
            <a:prstGeom prst="bentConnector3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F6ED9219-6C64-0EA4-CD03-A2EDD5C63D9F}"/>
                </a:ext>
              </a:extLst>
            </p:cNvPr>
            <p:cNvCxnSpPr/>
            <p:nvPr/>
          </p:nvCxnSpPr>
          <p:spPr>
            <a:xfrm>
              <a:off x="4074160" y="2143760"/>
              <a:ext cx="333973" cy="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EC791B5D-C6CD-EA06-CA45-01D02B7FA209}"/>
                </a:ext>
              </a:extLst>
            </p:cNvPr>
            <p:cNvCxnSpPr/>
            <p:nvPr/>
          </p:nvCxnSpPr>
          <p:spPr>
            <a:xfrm>
              <a:off x="4408133" y="2143760"/>
              <a:ext cx="0" cy="1050060"/>
            </a:xfrm>
            <a:prstGeom prst="straightConnector1">
              <a:avLst/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742D2DB-3B0E-B09E-4A2E-9928B9111667}"/>
              </a:ext>
            </a:extLst>
          </p:cNvPr>
          <p:cNvGrpSpPr/>
          <p:nvPr/>
        </p:nvGrpSpPr>
        <p:grpSpPr>
          <a:xfrm flipV="1">
            <a:off x="4362302" y="4131268"/>
            <a:ext cx="3547851" cy="1475896"/>
            <a:chOff x="4024936" y="2613547"/>
            <a:chExt cx="3547851" cy="1475896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CFB13F5-A265-30C8-8CFC-D7907CBB4345}"/>
                </a:ext>
              </a:extLst>
            </p:cNvPr>
            <p:cNvGrpSpPr/>
            <p:nvPr/>
          </p:nvGrpSpPr>
          <p:grpSpPr>
            <a:xfrm>
              <a:off x="4024936" y="2613547"/>
              <a:ext cx="1261546" cy="1475896"/>
              <a:chOff x="4024936" y="2613547"/>
              <a:chExt cx="1261546" cy="1475896"/>
            </a:xfrm>
          </p:grpSpPr>
          <p:cxnSp>
            <p:nvCxnSpPr>
              <p:cNvPr id="79" name="Connector: Elbow 78">
                <a:extLst>
                  <a:ext uri="{FF2B5EF4-FFF2-40B4-BE49-F238E27FC236}">
                    <a16:creationId xmlns:a16="http://schemas.microsoft.com/office/drawing/2014/main" id="{ABDB139F-4B6F-2DBE-B70F-5A37130007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50178" y="3697429"/>
                <a:ext cx="1236304" cy="392014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5314D9D-FFDE-1F7E-E1B3-EDB1CF592F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024936" y="2613547"/>
                <a:ext cx="405903" cy="0"/>
              </a:xfrm>
              <a:prstGeom prst="line">
                <a:avLst/>
              </a:prstGeom>
              <a:ln w="3810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9F6B72E6-B534-8508-CD57-6E1AC7451546}"/>
                  </a:ext>
                </a:extLst>
              </p:cNvPr>
              <p:cNvCxnSpPr/>
              <p:nvPr/>
            </p:nvCxnSpPr>
            <p:spPr>
              <a:xfrm>
                <a:off x="4428453" y="2636095"/>
                <a:ext cx="0" cy="1050060"/>
              </a:xfrm>
              <a:prstGeom prst="straightConnector1">
                <a:avLst/>
              </a:prstGeom>
              <a:ln w="381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ACF4A4FD-F447-D7F8-EE4C-E29184DDD262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6301081" y="3686154"/>
              <a:ext cx="1271706" cy="381245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3D46CC8-783E-C634-3083-B362B4493913}"/>
              </a:ext>
            </a:extLst>
          </p:cNvPr>
          <p:cNvCxnSpPr/>
          <p:nvPr/>
        </p:nvCxnSpPr>
        <p:spPr>
          <a:xfrm flipV="1">
            <a:off x="7582044" y="4544622"/>
            <a:ext cx="0" cy="1050060"/>
          </a:xfrm>
          <a:prstGeom prst="straightConnector1">
            <a:avLst/>
          </a:prstGeom>
          <a:ln w="381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DFC518EA-EAFF-B6F4-D6E1-E49F63BE6F96}"/>
              </a:ext>
            </a:extLst>
          </p:cNvPr>
          <p:cNvCxnSpPr>
            <a:cxnSpLocks/>
          </p:cNvCxnSpPr>
          <p:nvPr/>
        </p:nvCxnSpPr>
        <p:spPr>
          <a:xfrm>
            <a:off x="7586340" y="5584616"/>
            <a:ext cx="32381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9B4C7861-CBDA-0AE7-EA74-DF64336B78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5689418" y="3641870"/>
            <a:ext cx="868576" cy="881412"/>
          </a:xfrm>
          <a:prstGeom prst="flowChartConnector">
            <a:avLst/>
          </a:prstGeom>
          <a:ln w="76200">
            <a:solidFill>
              <a:srgbClr val="FFFF00"/>
            </a:solidFill>
          </a:ln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A3879DBB-4065-6A43-203F-988A12E665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C37B1E64-756F-8644-213F-D55F4993B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322E0BC-1753-B1B3-7617-97290695445E}"/>
              </a:ext>
            </a:extLst>
          </p:cNvPr>
          <p:cNvGrpSpPr/>
          <p:nvPr/>
        </p:nvGrpSpPr>
        <p:grpSpPr>
          <a:xfrm>
            <a:off x="1087953" y="2692439"/>
            <a:ext cx="3345469" cy="1143937"/>
            <a:chOff x="5289496" y="2341801"/>
            <a:chExt cx="3326184" cy="1143937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90605B0B-EDA4-104C-165C-22E07CBB3A6C}"/>
                </a:ext>
              </a:extLst>
            </p:cNvPr>
            <p:cNvSpPr/>
            <p:nvPr/>
          </p:nvSpPr>
          <p:spPr>
            <a:xfrm>
              <a:off x="5289496" y="2341801"/>
              <a:ext cx="3326184" cy="1143937"/>
            </a:xfrm>
            <a:prstGeom prst="roundRect">
              <a:avLst/>
            </a:prstGeom>
            <a:solidFill>
              <a:srgbClr val="081F3D"/>
            </a:solidFill>
            <a:ln>
              <a:solidFill>
                <a:srgbClr val="1FA8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92FA198-F702-DC25-2689-E7F6A219AA67}"/>
                </a:ext>
              </a:extLst>
            </p:cNvPr>
            <p:cNvSpPr txBox="1"/>
            <p:nvPr/>
          </p:nvSpPr>
          <p:spPr>
            <a:xfrm>
              <a:off x="5333611" y="2405744"/>
              <a:ext cx="310392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+mj-lt"/>
                </a:rPr>
                <a:t>CREDENTIAL / SOCIAL ENGINEERING ATTACKS</a:t>
              </a:r>
            </a:p>
            <a:p>
              <a:r>
                <a:rPr lang="en-US" sz="1400" dirty="0">
                  <a:latin typeface="+mj-lt"/>
                  <a:ea typeface="Microsoft YaHei" panose="020B0503020204020204" pitchFamily="34" charset="-122"/>
                </a:rPr>
                <a:t>Phishing, spear phishing, and manipulation of personnel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757499-184A-2E9D-7D61-AE235D92ED26}"/>
              </a:ext>
            </a:extLst>
          </p:cNvPr>
          <p:cNvGrpSpPr/>
          <p:nvPr/>
        </p:nvGrpSpPr>
        <p:grpSpPr>
          <a:xfrm>
            <a:off x="1096973" y="4044218"/>
            <a:ext cx="3336447" cy="1065654"/>
            <a:chOff x="5278570" y="960457"/>
            <a:chExt cx="3347720" cy="1065654"/>
          </a:xfrm>
        </p:grpSpPr>
        <p:sp>
          <p:nvSpPr>
            <p:cNvPr id="14" name="Rounded Rectangle 10">
              <a:extLst>
                <a:ext uri="{FF2B5EF4-FFF2-40B4-BE49-F238E27FC236}">
                  <a16:creationId xmlns:a16="http://schemas.microsoft.com/office/drawing/2014/main" id="{F4DFF73F-4F88-1479-E5AD-56E1B896998B}"/>
                </a:ext>
              </a:extLst>
            </p:cNvPr>
            <p:cNvSpPr/>
            <p:nvPr/>
          </p:nvSpPr>
          <p:spPr>
            <a:xfrm>
              <a:off x="5278570" y="960457"/>
              <a:ext cx="3347720" cy="1065654"/>
            </a:xfrm>
            <a:prstGeom prst="roundRect">
              <a:avLst/>
            </a:prstGeom>
            <a:solidFill>
              <a:srgbClr val="081F3D"/>
            </a:solidFill>
            <a:ln>
              <a:solidFill>
                <a:srgbClr val="F4B7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4451C7D-D06E-CB40-6A9A-6B9F608A9F4C}"/>
                </a:ext>
              </a:extLst>
            </p:cNvPr>
            <p:cNvSpPr txBox="1"/>
            <p:nvPr/>
          </p:nvSpPr>
          <p:spPr>
            <a:xfrm>
              <a:off x="5330480" y="985519"/>
              <a:ext cx="2949920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+mj-lt"/>
                </a:rPr>
                <a:t>RECONNAISSANCE OF PUBLIC-FACING SYSTEMS</a:t>
              </a:r>
            </a:p>
            <a:p>
              <a:r>
                <a:rPr lang="en-US" sz="1400" dirty="0">
                  <a:latin typeface="+mj-lt"/>
                  <a:ea typeface="Microsoft YaHei" panose="020B0503020204020204" pitchFamily="34" charset="-122"/>
                </a:rPr>
                <a:t>Mapping digital footprint and identifying exploitable surfaces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439CE58-05F0-96AA-1141-9EDD25C2FDD7}"/>
              </a:ext>
            </a:extLst>
          </p:cNvPr>
          <p:cNvGrpSpPr/>
          <p:nvPr/>
        </p:nvGrpSpPr>
        <p:grpSpPr>
          <a:xfrm>
            <a:off x="1096973" y="5263418"/>
            <a:ext cx="3336447" cy="1065654"/>
            <a:chOff x="1096973" y="5263418"/>
            <a:chExt cx="3336447" cy="1065654"/>
          </a:xfrm>
        </p:grpSpPr>
        <p:sp>
          <p:nvSpPr>
            <p:cNvPr id="44" name="Rounded Rectangle 10">
              <a:extLst>
                <a:ext uri="{FF2B5EF4-FFF2-40B4-BE49-F238E27FC236}">
                  <a16:creationId xmlns:a16="http://schemas.microsoft.com/office/drawing/2014/main" id="{3E4F91A6-FB78-DA4A-5739-0E8DF9026CB2}"/>
                </a:ext>
              </a:extLst>
            </p:cNvPr>
            <p:cNvSpPr/>
            <p:nvPr/>
          </p:nvSpPr>
          <p:spPr>
            <a:xfrm>
              <a:off x="1096973" y="5263418"/>
              <a:ext cx="3336447" cy="1065654"/>
            </a:xfrm>
            <a:prstGeom prst="roundRect">
              <a:avLst/>
            </a:prstGeom>
            <a:solidFill>
              <a:srgbClr val="081F3D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04FA87-F406-D7F3-5572-3F3E13A7595A}"/>
                </a:ext>
              </a:extLst>
            </p:cNvPr>
            <p:cNvSpPr txBox="1"/>
            <p:nvPr/>
          </p:nvSpPr>
          <p:spPr>
            <a:xfrm>
              <a:off x="1148708" y="5288480"/>
              <a:ext cx="3105532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+mj-lt"/>
                </a:rPr>
                <a:t>PHYSICAL INTRUSION / SABOTAGE</a:t>
              </a:r>
            </a:p>
            <a:p>
              <a:r>
                <a:rPr lang="en-US" sz="1400" dirty="0">
                  <a:latin typeface="+mj-lt"/>
                </a:rPr>
                <a:t>Unauthorized physical access, theft or sabotage of critical assets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6E6022D5-CE23-23C0-E6BE-69951E9B4DE5}"/>
              </a:ext>
            </a:extLst>
          </p:cNvPr>
          <p:cNvSpPr txBox="1"/>
          <p:nvPr/>
        </p:nvSpPr>
        <p:spPr>
          <a:xfrm>
            <a:off x="1105061" y="844971"/>
            <a:ext cx="2097049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b="1" i="0" dirty="0">
                <a:solidFill>
                  <a:srgbClr val="FFFF00"/>
                </a:solidFill>
                <a:latin typeface="+mj-lt"/>
              </a:rPr>
              <a:t>EXTERNAL THREAT</a:t>
            </a:r>
            <a:endParaRPr b="1" i="0" dirty="0">
              <a:solidFill>
                <a:srgbClr val="FFFF00"/>
              </a:solidFill>
              <a:latin typeface="+mj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0A4E5D6-5019-D7A3-CA1B-BED3FB9A8E00}"/>
              </a:ext>
            </a:extLst>
          </p:cNvPr>
          <p:cNvGrpSpPr/>
          <p:nvPr/>
        </p:nvGrpSpPr>
        <p:grpSpPr>
          <a:xfrm>
            <a:off x="1096972" y="1343003"/>
            <a:ext cx="3336447" cy="1153366"/>
            <a:chOff x="4635806" y="914154"/>
            <a:chExt cx="2720034" cy="713232"/>
          </a:xfrm>
        </p:grpSpPr>
        <p:sp>
          <p:nvSpPr>
            <p:cNvPr id="9" name="Rounded Rectangle 6">
              <a:extLst>
                <a:ext uri="{FF2B5EF4-FFF2-40B4-BE49-F238E27FC236}">
                  <a16:creationId xmlns:a16="http://schemas.microsoft.com/office/drawing/2014/main" id="{8171990C-12B9-8F8F-A6E6-B76262109F4B}"/>
                </a:ext>
              </a:extLst>
            </p:cNvPr>
            <p:cNvSpPr/>
            <p:nvPr/>
          </p:nvSpPr>
          <p:spPr>
            <a:xfrm>
              <a:off x="4635806" y="914154"/>
              <a:ext cx="2720034" cy="713232"/>
            </a:xfrm>
            <a:prstGeom prst="roundRect">
              <a:avLst/>
            </a:prstGeom>
            <a:solidFill>
              <a:srgbClr val="081F3D"/>
            </a:solidFill>
            <a:ln>
              <a:solidFill>
                <a:srgbClr val="E05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80576A4-32B2-952A-CE33-A9B0FA484C9B}"/>
                </a:ext>
              </a:extLst>
            </p:cNvPr>
            <p:cNvSpPr txBox="1"/>
            <p:nvPr/>
          </p:nvSpPr>
          <p:spPr>
            <a:xfrm>
              <a:off x="4710819" y="987435"/>
              <a:ext cx="2562657" cy="4758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STATE-SPONSORED APTS</a:t>
              </a:r>
            </a:p>
            <a:p>
              <a:r>
                <a:rPr lang="en-US" sz="1400" dirty="0">
                  <a:ea typeface="Microsoft YaHei" panose="020B0503020204020204" pitchFamily="34" charset="-122"/>
                </a:rPr>
                <a:t>Advanced Persistent threats</a:t>
              </a:r>
            </a:p>
            <a:p>
              <a:r>
                <a:rPr lang="en-US" sz="1400" dirty="0">
                  <a:ea typeface="Microsoft YaHei" panose="020B0503020204020204" pitchFamily="34" charset="-122"/>
                </a:rPr>
                <a:t>Targeting tactical intelligence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060BE361-5CFE-89C9-F96B-49D553C8C993}"/>
              </a:ext>
            </a:extLst>
          </p:cNvPr>
          <p:cNvGrpSpPr/>
          <p:nvPr/>
        </p:nvGrpSpPr>
        <p:grpSpPr>
          <a:xfrm>
            <a:off x="7945081" y="2679288"/>
            <a:ext cx="3345469" cy="1143937"/>
            <a:chOff x="5289496" y="2341801"/>
            <a:chExt cx="3326184" cy="1143937"/>
          </a:xfrm>
        </p:grpSpPr>
        <p:sp>
          <p:nvSpPr>
            <p:cNvPr id="51" name="Rounded Rectangle 14">
              <a:extLst>
                <a:ext uri="{FF2B5EF4-FFF2-40B4-BE49-F238E27FC236}">
                  <a16:creationId xmlns:a16="http://schemas.microsoft.com/office/drawing/2014/main" id="{77D288DB-3158-702A-F0E0-149B7C2CADAD}"/>
                </a:ext>
              </a:extLst>
            </p:cNvPr>
            <p:cNvSpPr/>
            <p:nvPr/>
          </p:nvSpPr>
          <p:spPr>
            <a:xfrm>
              <a:off x="5289496" y="2341801"/>
              <a:ext cx="3326184" cy="1143937"/>
            </a:xfrm>
            <a:prstGeom prst="roundRect">
              <a:avLst/>
            </a:prstGeom>
            <a:solidFill>
              <a:srgbClr val="081F3D"/>
            </a:solidFill>
            <a:ln>
              <a:solidFill>
                <a:srgbClr val="1FA8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BD3CF19-F13A-CEA9-F2FB-70DE2B62278F}"/>
                </a:ext>
              </a:extLst>
            </p:cNvPr>
            <p:cNvSpPr txBox="1"/>
            <p:nvPr/>
          </p:nvSpPr>
          <p:spPr>
            <a:xfrm>
              <a:off x="5333611" y="2477250"/>
              <a:ext cx="31039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+mj-lt"/>
                </a:rPr>
                <a:t>OPERATIONAL DISRUPTION</a:t>
              </a:r>
            </a:p>
            <a:p>
              <a:r>
                <a:rPr lang="en-US" sz="1400" dirty="0">
                  <a:latin typeface="+mj-lt"/>
                  <a:ea typeface="Microsoft YaHei" panose="020B0503020204020204" pitchFamily="34" charset="-122"/>
                </a:rPr>
                <a:t>Disruption of ICT services and critical training activities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3DC5454-514F-BB65-B252-45F334678B22}"/>
              </a:ext>
            </a:extLst>
          </p:cNvPr>
          <p:cNvGrpSpPr/>
          <p:nvPr/>
        </p:nvGrpSpPr>
        <p:grpSpPr>
          <a:xfrm>
            <a:off x="7954101" y="4031067"/>
            <a:ext cx="3336447" cy="1065654"/>
            <a:chOff x="5278570" y="960457"/>
            <a:chExt cx="3347720" cy="1065654"/>
          </a:xfrm>
        </p:grpSpPr>
        <p:sp>
          <p:nvSpPr>
            <p:cNvPr id="54" name="Rounded Rectangle 10">
              <a:extLst>
                <a:ext uri="{FF2B5EF4-FFF2-40B4-BE49-F238E27FC236}">
                  <a16:creationId xmlns:a16="http://schemas.microsoft.com/office/drawing/2014/main" id="{C6EC5CF4-2275-08A6-591D-9231FA8D3F70}"/>
                </a:ext>
              </a:extLst>
            </p:cNvPr>
            <p:cNvSpPr/>
            <p:nvPr/>
          </p:nvSpPr>
          <p:spPr>
            <a:xfrm>
              <a:off x="5278570" y="960457"/>
              <a:ext cx="3347720" cy="1065654"/>
            </a:xfrm>
            <a:prstGeom prst="roundRect">
              <a:avLst/>
            </a:prstGeom>
            <a:solidFill>
              <a:srgbClr val="081F3D"/>
            </a:solidFill>
            <a:ln>
              <a:solidFill>
                <a:srgbClr val="F4B7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C3A02AF-787E-C605-7A00-D1F9E2AF7DAF}"/>
                </a:ext>
              </a:extLst>
            </p:cNvPr>
            <p:cNvSpPr txBox="1"/>
            <p:nvPr/>
          </p:nvSpPr>
          <p:spPr>
            <a:xfrm>
              <a:off x="5382130" y="1108548"/>
              <a:ext cx="29499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+mj-lt"/>
                </a:rPr>
                <a:t>LOSS OF READINESS</a:t>
              </a:r>
            </a:p>
            <a:p>
              <a:r>
                <a:rPr lang="en-US" sz="1400" dirty="0">
                  <a:latin typeface="+mj-lt"/>
                  <a:ea typeface="Microsoft YaHei" panose="020B0503020204020204" pitchFamily="34" charset="-122"/>
                </a:rPr>
                <a:t>Reduced mission capability and delayed response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9A913809-911F-4C0F-6F0F-D6930CC04557}"/>
              </a:ext>
            </a:extLst>
          </p:cNvPr>
          <p:cNvGrpSpPr/>
          <p:nvPr/>
        </p:nvGrpSpPr>
        <p:grpSpPr>
          <a:xfrm>
            <a:off x="7954101" y="5250267"/>
            <a:ext cx="3396477" cy="1065654"/>
            <a:chOff x="1096973" y="5263418"/>
            <a:chExt cx="3396477" cy="1065654"/>
          </a:xfrm>
        </p:grpSpPr>
        <p:sp>
          <p:nvSpPr>
            <p:cNvPr id="57" name="Rounded Rectangle 10">
              <a:extLst>
                <a:ext uri="{FF2B5EF4-FFF2-40B4-BE49-F238E27FC236}">
                  <a16:creationId xmlns:a16="http://schemas.microsoft.com/office/drawing/2014/main" id="{E0480531-911D-8466-EFDE-8E86D0001AB6}"/>
                </a:ext>
              </a:extLst>
            </p:cNvPr>
            <p:cNvSpPr/>
            <p:nvPr/>
          </p:nvSpPr>
          <p:spPr>
            <a:xfrm>
              <a:off x="1096973" y="5263418"/>
              <a:ext cx="3336447" cy="1065654"/>
            </a:xfrm>
            <a:prstGeom prst="roundRect">
              <a:avLst/>
            </a:prstGeom>
            <a:solidFill>
              <a:srgbClr val="081F3D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894AF75-EEAB-242B-1AAB-F180866C9BB3}"/>
                </a:ext>
              </a:extLst>
            </p:cNvPr>
            <p:cNvSpPr txBox="1"/>
            <p:nvPr/>
          </p:nvSpPr>
          <p:spPr>
            <a:xfrm>
              <a:off x="1148707" y="5288480"/>
              <a:ext cx="3344743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latin typeface="+mj-lt"/>
                </a:rPr>
                <a:t>REPUTATIONAL / INSTITUTIONAL CONSEQUENCES</a:t>
              </a:r>
            </a:p>
            <a:p>
              <a:r>
                <a:rPr lang="en-US" sz="1400" dirty="0">
                  <a:latin typeface="+mj-lt"/>
                </a:rPr>
                <a:t>Loss of trust, credibility and institutional reputational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D7F3411-0396-EC02-A974-6021929E3A79}"/>
              </a:ext>
            </a:extLst>
          </p:cNvPr>
          <p:cNvGrpSpPr/>
          <p:nvPr/>
        </p:nvGrpSpPr>
        <p:grpSpPr>
          <a:xfrm>
            <a:off x="7954100" y="1329852"/>
            <a:ext cx="3336447" cy="1153366"/>
            <a:chOff x="4635806" y="914154"/>
            <a:chExt cx="2720034" cy="713232"/>
          </a:xfrm>
        </p:grpSpPr>
        <p:sp>
          <p:nvSpPr>
            <p:cNvPr id="60" name="Rounded Rectangle 6">
              <a:extLst>
                <a:ext uri="{FF2B5EF4-FFF2-40B4-BE49-F238E27FC236}">
                  <a16:creationId xmlns:a16="http://schemas.microsoft.com/office/drawing/2014/main" id="{08458877-FCB0-CDCB-24CC-E3E08E989628}"/>
                </a:ext>
              </a:extLst>
            </p:cNvPr>
            <p:cNvSpPr/>
            <p:nvPr/>
          </p:nvSpPr>
          <p:spPr>
            <a:xfrm>
              <a:off x="4635806" y="914154"/>
              <a:ext cx="2720034" cy="713232"/>
            </a:xfrm>
            <a:prstGeom prst="roundRect">
              <a:avLst/>
            </a:prstGeom>
            <a:solidFill>
              <a:srgbClr val="081F3D"/>
            </a:solidFill>
            <a:ln>
              <a:solidFill>
                <a:srgbClr val="E05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B9C46C5-3347-06B3-A107-34BB45C7CD60}"/>
                </a:ext>
              </a:extLst>
            </p:cNvPr>
            <p:cNvSpPr txBox="1"/>
            <p:nvPr/>
          </p:nvSpPr>
          <p:spPr>
            <a:xfrm>
              <a:off x="4710819" y="987435"/>
              <a:ext cx="2562657" cy="4758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INTELLIGENCE COMPROMISE</a:t>
              </a:r>
            </a:p>
            <a:p>
              <a:r>
                <a:rPr lang="en-US" sz="1400" dirty="0">
                  <a:ea typeface="Microsoft YaHei" panose="020B0503020204020204" pitchFamily="34" charset="-122"/>
                </a:rPr>
                <a:t>Theft or leakage of sensitive intelligence and operational data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E16525D-4AFC-446A-4FC8-ED33A2805DCB}"/>
              </a:ext>
            </a:extLst>
          </p:cNvPr>
          <p:cNvSpPr txBox="1"/>
          <p:nvPr/>
        </p:nvSpPr>
        <p:spPr>
          <a:xfrm>
            <a:off x="7932581" y="835758"/>
            <a:ext cx="313739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b="1" dirty="0">
                <a:solidFill>
                  <a:srgbClr val="FFFF00"/>
                </a:solidFill>
                <a:latin typeface="+mj-lt"/>
              </a:rPr>
              <a:t>POTENTIAL MISSION EFFECT</a:t>
            </a:r>
            <a:endParaRPr b="1" i="0" dirty="0">
              <a:solidFill>
                <a:srgbClr val="FFF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796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52148" y="6447934"/>
            <a:ext cx="189246" cy="270694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5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KEY FINDINGS SUMMARY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BA44D5-2B60-03ED-2C15-8CC6B197CB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EA69B5-B873-7E31-D0A2-B535B0535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B81195A4-BACE-8A1F-ABEF-7CE37A4AC612}"/>
              </a:ext>
            </a:extLst>
          </p:cNvPr>
          <p:cNvSpPr txBox="1"/>
          <p:nvPr/>
        </p:nvSpPr>
        <p:spPr>
          <a:xfrm>
            <a:off x="230118" y="628614"/>
            <a:ext cx="986039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b="1" i="0" dirty="0">
                <a:solidFill>
                  <a:srgbClr val="FFFF00"/>
                </a:solidFill>
                <a:latin typeface="+mj-lt"/>
              </a:rPr>
              <a:t>Evidence-based assessment of strengths, residual exposure and improvement priorities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9A0FE-9772-5E46-BA9B-250E178E85A6}"/>
              </a:ext>
            </a:extLst>
          </p:cNvPr>
          <p:cNvSpPr/>
          <p:nvPr/>
        </p:nvSpPr>
        <p:spPr>
          <a:xfrm>
            <a:off x="339852" y="98755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solidFill>
                <a:srgbClr val="FFFF00"/>
              </a:solidFill>
            </a:endParaRPr>
          </a:p>
        </p:txBody>
      </p:sp>
      <p:sp>
        <p:nvSpPr>
          <p:cNvPr id="10" name="Rounded Rectangle 5">
            <a:extLst>
              <a:ext uri="{FF2B5EF4-FFF2-40B4-BE49-F238E27FC236}">
                <a16:creationId xmlns:a16="http://schemas.microsoft.com/office/drawing/2014/main" id="{FDB7F048-2873-DDEC-E15F-3CA71CCD9186}"/>
              </a:ext>
            </a:extLst>
          </p:cNvPr>
          <p:cNvSpPr/>
          <p:nvPr/>
        </p:nvSpPr>
        <p:spPr>
          <a:xfrm>
            <a:off x="339852" y="1216152"/>
            <a:ext cx="2761488" cy="1024128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7D4E7F0A-39D3-4380-60EF-5CA08F4D85DD}"/>
              </a:ext>
            </a:extLst>
          </p:cNvPr>
          <p:cNvSpPr txBox="1"/>
          <p:nvPr/>
        </p:nvSpPr>
        <p:spPr>
          <a:xfrm>
            <a:off x="467868" y="13075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 i="0">
                <a:solidFill>
                  <a:srgbClr val="4BCAFF"/>
                </a:solidFill>
                <a:latin typeface="Aptos"/>
              </a:rPr>
              <a:t>01</a:t>
            </a: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807D474E-2C60-A48C-AD68-20015C70CFE5}"/>
              </a:ext>
            </a:extLst>
          </p:cNvPr>
          <p:cNvSpPr txBox="1"/>
          <p:nvPr/>
        </p:nvSpPr>
        <p:spPr>
          <a:xfrm>
            <a:off x="467868" y="1559296"/>
            <a:ext cx="1859805" cy="264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0" b="1" i="0">
                <a:solidFill>
                  <a:srgbClr val="F5F8FC"/>
                </a:solidFill>
              </a:rPr>
              <a:t>PHYSICAL OBSERVATION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29CA1C5-AE35-BE05-1CA2-64669491FEE2}"/>
              </a:ext>
            </a:extLst>
          </p:cNvPr>
          <p:cNvSpPr txBox="1"/>
          <p:nvPr/>
        </p:nvSpPr>
        <p:spPr>
          <a:xfrm>
            <a:off x="467868" y="1866523"/>
            <a:ext cx="2553904" cy="2354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30" b="0" i="0">
                <a:solidFill>
                  <a:srgbClr val="AEC1D6"/>
                </a:solidFill>
              </a:rPr>
              <a:t>Perimeter • Access • CCTV • ICT facilities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B9F79A4B-FFDE-AAF4-CF99-0BB3CF6130D6}"/>
              </a:ext>
            </a:extLst>
          </p:cNvPr>
          <p:cNvSpPr/>
          <p:nvPr/>
        </p:nvSpPr>
        <p:spPr>
          <a:xfrm>
            <a:off x="3256788" y="1216152"/>
            <a:ext cx="2761488" cy="1024128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7F361B9F-DEAA-6403-8A54-E02117191A6F}"/>
              </a:ext>
            </a:extLst>
          </p:cNvPr>
          <p:cNvSpPr txBox="1"/>
          <p:nvPr/>
        </p:nvSpPr>
        <p:spPr>
          <a:xfrm>
            <a:off x="3384804" y="13075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 i="0">
                <a:solidFill>
                  <a:srgbClr val="4BCAFF"/>
                </a:solidFill>
                <a:latin typeface="Aptos"/>
              </a:rPr>
              <a:t>02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68541AD8-4A75-E7F0-B8E1-D0A92B651DD1}"/>
              </a:ext>
            </a:extLst>
          </p:cNvPr>
          <p:cNvSpPr txBox="1"/>
          <p:nvPr/>
        </p:nvSpPr>
        <p:spPr>
          <a:xfrm>
            <a:off x="3384804" y="1559296"/>
            <a:ext cx="971741" cy="264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0" b="1" i="0" dirty="0">
                <a:solidFill>
                  <a:srgbClr val="F5F8FC"/>
                </a:solidFill>
                <a:latin typeface="+mj-lt"/>
              </a:rPr>
              <a:t>INTERVIEWS</a:t>
            </a: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B37AC308-5317-8F9F-14B2-9BE4137393F4}"/>
              </a:ext>
            </a:extLst>
          </p:cNvPr>
          <p:cNvSpPr txBox="1"/>
          <p:nvPr/>
        </p:nvSpPr>
        <p:spPr>
          <a:xfrm>
            <a:off x="3384804" y="1847088"/>
            <a:ext cx="25146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30" b="0" i="0" dirty="0">
                <a:solidFill>
                  <a:srgbClr val="AEC1D6"/>
                </a:solidFill>
                <a:latin typeface="Aptos"/>
              </a:rPr>
              <a:t>Management • ICT personnel • General staff</a:t>
            </a:r>
          </a:p>
        </p:txBody>
      </p:sp>
      <p:sp>
        <p:nvSpPr>
          <p:cNvPr id="20" name="Rounded Rectangle 13">
            <a:extLst>
              <a:ext uri="{FF2B5EF4-FFF2-40B4-BE49-F238E27FC236}">
                <a16:creationId xmlns:a16="http://schemas.microsoft.com/office/drawing/2014/main" id="{21E6BAF9-DEB7-E533-837C-DC9D91A505DB}"/>
              </a:ext>
            </a:extLst>
          </p:cNvPr>
          <p:cNvSpPr/>
          <p:nvPr/>
        </p:nvSpPr>
        <p:spPr>
          <a:xfrm>
            <a:off x="6173724" y="1216152"/>
            <a:ext cx="2761488" cy="1024128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C8FAF021-F25C-C3B2-829D-A1EFC04F0E44}"/>
              </a:ext>
            </a:extLst>
          </p:cNvPr>
          <p:cNvSpPr txBox="1"/>
          <p:nvPr/>
        </p:nvSpPr>
        <p:spPr>
          <a:xfrm>
            <a:off x="6301740" y="13075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 i="0">
                <a:solidFill>
                  <a:srgbClr val="4BCAFF"/>
                </a:solidFill>
                <a:latin typeface="Aptos"/>
              </a:rPr>
              <a:t>03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FA2C4024-E661-7925-C8EB-CDAB3948FA80}"/>
              </a:ext>
            </a:extLst>
          </p:cNvPr>
          <p:cNvSpPr txBox="1"/>
          <p:nvPr/>
        </p:nvSpPr>
        <p:spPr>
          <a:xfrm>
            <a:off x="6301740" y="1559296"/>
            <a:ext cx="2274982" cy="264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0" b="1" i="0" dirty="0">
                <a:solidFill>
                  <a:srgbClr val="F5F8FC"/>
                </a:solidFill>
              </a:rPr>
              <a:t>TECHNICAL / ENVIRONMENTAL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54B919D0-A1C0-9F32-0404-D16665A2D1D7}"/>
              </a:ext>
            </a:extLst>
          </p:cNvPr>
          <p:cNvSpPr txBox="1"/>
          <p:nvPr/>
        </p:nvSpPr>
        <p:spPr>
          <a:xfrm>
            <a:off x="6301740" y="1794966"/>
            <a:ext cx="2185214" cy="3785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30" b="0" i="0" dirty="0">
                <a:solidFill>
                  <a:srgbClr val="AEC1D6"/>
                </a:solidFill>
                <a:latin typeface="Aptos"/>
              </a:rPr>
              <a:t>Wireless • Assets • Server environment</a:t>
            </a:r>
            <a:endParaRPr lang="en-US" sz="930" b="0" i="0" dirty="0">
              <a:solidFill>
                <a:srgbClr val="AEC1D6"/>
              </a:solidFill>
              <a:latin typeface="Aptos"/>
            </a:endParaRPr>
          </a:p>
          <a:p>
            <a:pPr algn="l"/>
            <a:r>
              <a:rPr sz="930" b="0" i="0" dirty="0">
                <a:solidFill>
                  <a:srgbClr val="AEC1D6"/>
                </a:solidFill>
                <a:latin typeface="Aptos"/>
              </a:rPr>
              <a:t>• Workstations</a:t>
            </a:r>
          </a:p>
        </p:txBody>
      </p:sp>
      <p:sp>
        <p:nvSpPr>
          <p:cNvPr id="24" name="Rounded Rectangle 17">
            <a:extLst>
              <a:ext uri="{FF2B5EF4-FFF2-40B4-BE49-F238E27FC236}">
                <a16:creationId xmlns:a16="http://schemas.microsoft.com/office/drawing/2014/main" id="{32DB8DEE-3D96-C6AB-BD39-A9FD59467A93}"/>
              </a:ext>
            </a:extLst>
          </p:cNvPr>
          <p:cNvSpPr/>
          <p:nvPr/>
        </p:nvSpPr>
        <p:spPr>
          <a:xfrm>
            <a:off x="9090660" y="1216152"/>
            <a:ext cx="2761488" cy="1024128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18">
            <a:extLst>
              <a:ext uri="{FF2B5EF4-FFF2-40B4-BE49-F238E27FC236}">
                <a16:creationId xmlns:a16="http://schemas.microsoft.com/office/drawing/2014/main" id="{9CDEDA2C-A049-0E3C-A9A8-6B9918E45139}"/>
              </a:ext>
            </a:extLst>
          </p:cNvPr>
          <p:cNvSpPr txBox="1"/>
          <p:nvPr/>
        </p:nvSpPr>
        <p:spPr>
          <a:xfrm>
            <a:off x="9218676" y="1307592"/>
            <a:ext cx="36576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00" b="1" i="0">
                <a:solidFill>
                  <a:srgbClr val="4BCAFF"/>
                </a:solidFill>
                <a:latin typeface="Aptos"/>
              </a:rPr>
              <a:t>04</a:t>
            </a:r>
          </a:p>
        </p:txBody>
      </p:sp>
      <p:sp>
        <p:nvSpPr>
          <p:cNvPr id="26" name="TextBox 19">
            <a:extLst>
              <a:ext uri="{FF2B5EF4-FFF2-40B4-BE49-F238E27FC236}">
                <a16:creationId xmlns:a16="http://schemas.microsoft.com/office/drawing/2014/main" id="{13E2DCC7-190A-54C6-780E-C03F285AB7EA}"/>
              </a:ext>
            </a:extLst>
          </p:cNvPr>
          <p:cNvSpPr txBox="1"/>
          <p:nvPr/>
        </p:nvSpPr>
        <p:spPr>
          <a:xfrm>
            <a:off x="9218676" y="1559296"/>
            <a:ext cx="1925527" cy="2646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120" b="1" i="0">
                <a:solidFill>
                  <a:srgbClr val="F5F8FC"/>
                </a:solidFill>
              </a:rPr>
              <a:t>OSINT RECONNAISSANCE</a:t>
            </a: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B0484C7A-0560-7C89-A8FA-5C685F00F289}"/>
              </a:ext>
            </a:extLst>
          </p:cNvPr>
          <p:cNvSpPr txBox="1"/>
          <p:nvPr/>
        </p:nvSpPr>
        <p:spPr>
          <a:xfrm>
            <a:off x="9218676" y="1794966"/>
            <a:ext cx="2560316" cy="3785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30" b="0" i="0" dirty="0">
                <a:solidFill>
                  <a:srgbClr val="AEC1D6"/>
                </a:solidFill>
                <a:latin typeface="+mj-lt"/>
              </a:rPr>
              <a:t>Public footprint • Authentication surfaces</a:t>
            </a:r>
            <a:endParaRPr lang="en-US" sz="930" dirty="0">
              <a:solidFill>
                <a:srgbClr val="AEC1D6"/>
              </a:solidFill>
              <a:latin typeface="+mj-lt"/>
            </a:endParaRPr>
          </a:p>
          <a:p>
            <a:pPr algn="l"/>
            <a:r>
              <a:rPr sz="930" b="0" i="0" dirty="0">
                <a:solidFill>
                  <a:srgbClr val="AEC1D6"/>
                </a:solidFill>
                <a:latin typeface="+mj-lt"/>
              </a:rPr>
              <a:t>• Metadata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B5C8EE49-F7CA-AA9B-8CE8-35993739A167}"/>
              </a:ext>
            </a:extLst>
          </p:cNvPr>
          <p:cNvSpPr txBox="1"/>
          <p:nvPr/>
        </p:nvSpPr>
        <p:spPr>
          <a:xfrm>
            <a:off x="339852" y="2413903"/>
            <a:ext cx="3394327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dirty="0">
                <a:solidFill>
                  <a:srgbClr val="FFFF00"/>
                </a:solidFill>
                <a:latin typeface="Aptos"/>
              </a:rPr>
              <a:t>WHAT THE ASSESSMENT SHOWED</a:t>
            </a:r>
          </a:p>
        </p:txBody>
      </p:sp>
      <p:sp>
        <p:nvSpPr>
          <p:cNvPr id="29" name="Rounded Rectangle 22">
            <a:extLst>
              <a:ext uri="{FF2B5EF4-FFF2-40B4-BE49-F238E27FC236}">
                <a16:creationId xmlns:a16="http://schemas.microsoft.com/office/drawing/2014/main" id="{534C84E7-A8E4-7301-E7B9-E81252709424}"/>
              </a:ext>
            </a:extLst>
          </p:cNvPr>
          <p:cNvSpPr/>
          <p:nvPr/>
        </p:nvSpPr>
        <p:spPr>
          <a:xfrm>
            <a:off x="339852" y="2788920"/>
            <a:ext cx="5440680" cy="2304288"/>
          </a:xfrm>
          <a:prstGeom prst="roundRect">
            <a:avLst/>
          </a:prstGeom>
          <a:solidFill>
            <a:srgbClr val="062D2D"/>
          </a:solidFill>
          <a:ln>
            <a:solidFill>
              <a:srgbClr val="307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30" name="TextBox 23">
            <a:extLst>
              <a:ext uri="{FF2B5EF4-FFF2-40B4-BE49-F238E27FC236}">
                <a16:creationId xmlns:a16="http://schemas.microsoft.com/office/drawing/2014/main" id="{864D20D6-8578-E045-5893-AEA14A5FC959}"/>
              </a:ext>
            </a:extLst>
          </p:cNvPr>
          <p:cNvSpPr txBox="1"/>
          <p:nvPr/>
        </p:nvSpPr>
        <p:spPr>
          <a:xfrm>
            <a:off x="559308" y="2893963"/>
            <a:ext cx="253947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>
                <a:solidFill>
                  <a:srgbClr val="48C269"/>
                </a:solidFill>
              </a:rPr>
              <a:t>ESTABLISHED STRENGTHS</a:t>
            </a:r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2D354234-2F57-6D50-D570-5B1E292B0754}"/>
              </a:ext>
            </a:extLst>
          </p:cNvPr>
          <p:cNvSpPr txBox="1"/>
          <p:nvPr/>
        </p:nvSpPr>
        <p:spPr>
          <a:xfrm>
            <a:off x="614172" y="3364992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>
                <a:solidFill>
                  <a:srgbClr val="48C269"/>
                </a:solidFill>
                <a:latin typeface="Aptos"/>
              </a:rPr>
              <a:t>✓</a:t>
            </a:r>
          </a:p>
        </p:txBody>
      </p:sp>
      <p:sp>
        <p:nvSpPr>
          <p:cNvPr id="32" name="TextBox 25">
            <a:extLst>
              <a:ext uri="{FF2B5EF4-FFF2-40B4-BE49-F238E27FC236}">
                <a16:creationId xmlns:a16="http://schemas.microsoft.com/office/drawing/2014/main" id="{0CBE649B-D6A4-3143-9E1E-9087F746142C}"/>
              </a:ext>
            </a:extLst>
          </p:cNvPr>
          <p:cNvSpPr txBox="1"/>
          <p:nvPr/>
        </p:nvSpPr>
        <p:spPr>
          <a:xfrm>
            <a:off x="943356" y="3328303"/>
            <a:ext cx="352692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i="0">
                <a:solidFill>
                  <a:srgbClr val="F5F8FC"/>
                </a:solidFill>
              </a:rPr>
              <a:t>Strong basic perimeter protection</a:t>
            </a:r>
          </a:p>
        </p:txBody>
      </p:sp>
      <p:sp>
        <p:nvSpPr>
          <p:cNvPr id="33" name="TextBox 26">
            <a:extLst>
              <a:ext uri="{FF2B5EF4-FFF2-40B4-BE49-F238E27FC236}">
                <a16:creationId xmlns:a16="http://schemas.microsoft.com/office/drawing/2014/main" id="{9E6650E6-018E-4D23-9132-175B90C0EC49}"/>
              </a:ext>
            </a:extLst>
          </p:cNvPr>
          <p:cNvSpPr txBox="1"/>
          <p:nvPr/>
        </p:nvSpPr>
        <p:spPr>
          <a:xfrm>
            <a:off x="614172" y="3758184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>
                <a:solidFill>
                  <a:srgbClr val="48C269"/>
                </a:solidFill>
                <a:latin typeface="Aptos"/>
              </a:rPr>
              <a:t>✓</a:t>
            </a:r>
          </a:p>
        </p:txBody>
      </p:sp>
      <p:sp>
        <p:nvSpPr>
          <p:cNvPr id="34" name="TextBox 27">
            <a:extLst>
              <a:ext uri="{FF2B5EF4-FFF2-40B4-BE49-F238E27FC236}">
                <a16:creationId xmlns:a16="http://schemas.microsoft.com/office/drawing/2014/main" id="{682E9472-B318-E73C-D400-D26FC6B63CB4}"/>
              </a:ext>
            </a:extLst>
          </p:cNvPr>
          <p:cNvSpPr txBox="1"/>
          <p:nvPr/>
        </p:nvSpPr>
        <p:spPr>
          <a:xfrm>
            <a:off x="943356" y="3721495"/>
            <a:ext cx="464742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i="0">
                <a:solidFill>
                  <a:srgbClr val="F5F8FC"/>
                </a:solidFill>
              </a:rPr>
              <a:t>Effective visitor screening and access control</a:t>
            </a:r>
          </a:p>
        </p:txBody>
      </p:sp>
      <p:sp>
        <p:nvSpPr>
          <p:cNvPr id="35" name="TextBox 28">
            <a:extLst>
              <a:ext uri="{FF2B5EF4-FFF2-40B4-BE49-F238E27FC236}">
                <a16:creationId xmlns:a16="http://schemas.microsoft.com/office/drawing/2014/main" id="{BB08310D-F615-03CB-3395-B66C6F0200ED}"/>
              </a:ext>
            </a:extLst>
          </p:cNvPr>
          <p:cNvSpPr txBox="1"/>
          <p:nvPr/>
        </p:nvSpPr>
        <p:spPr>
          <a:xfrm>
            <a:off x="614172" y="4151376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>
                <a:solidFill>
                  <a:srgbClr val="48C269"/>
                </a:solidFill>
                <a:latin typeface="Aptos"/>
              </a:rPr>
              <a:t>✓</a:t>
            </a:r>
          </a:p>
        </p:txBody>
      </p:sp>
      <p:sp>
        <p:nvSpPr>
          <p:cNvPr id="36" name="TextBox 29">
            <a:extLst>
              <a:ext uri="{FF2B5EF4-FFF2-40B4-BE49-F238E27FC236}">
                <a16:creationId xmlns:a16="http://schemas.microsoft.com/office/drawing/2014/main" id="{4D022616-ABBE-B4F2-C9FF-8EE82FD3E742}"/>
              </a:ext>
            </a:extLst>
          </p:cNvPr>
          <p:cNvSpPr txBox="1"/>
          <p:nvPr/>
        </p:nvSpPr>
        <p:spPr>
          <a:xfrm>
            <a:off x="943356" y="4114687"/>
            <a:ext cx="413286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i="0">
                <a:solidFill>
                  <a:srgbClr val="F5F8FC"/>
                </a:solidFill>
              </a:rPr>
              <a:t>Workstation security practices observed</a:t>
            </a:r>
          </a:p>
        </p:txBody>
      </p:sp>
      <p:sp>
        <p:nvSpPr>
          <p:cNvPr id="37" name="TextBox 30">
            <a:extLst>
              <a:ext uri="{FF2B5EF4-FFF2-40B4-BE49-F238E27FC236}">
                <a16:creationId xmlns:a16="http://schemas.microsoft.com/office/drawing/2014/main" id="{B5A6AC8B-8194-2524-964D-5FFAA0953D9B}"/>
              </a:ext>
            </a:extLst>
          </p:cNvPr>
          <p:cNvSpPr txBox="1"/>
          <p:nvPr/>
        </p:nvSpPr>
        <p:spPr>
          <a:xfrm>
            <a:off x="614172" y="4544568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500" b="1" i="0">
                <a:solidFill>
                  <a:srgbClr val="48C269"/>
                </a:solidFill>
                <a:latin typeface="Aptos"/>
              </a:rPr>
              <a:t>✓</a:t>
            </a:r>
          </a:p>
        </p:txBody>
      </p:sp>
      <p:sp>
        <p:nvSpPr>
          <p:cNvPr id="38" name="TextBox 31">
            <a:extLst>
              <a:ext uri="{FF2B5EF4-FFF2-40B4-BE49-F238E27FC236}">
                <a16:creationId xmlns:a16="http://schemas.microsoft.com/office/drawing/2014/main" id="{CCA1DD45-EF5E-5259-DB80-970092C4DA1B}"/>
              </a:ext>
            </a:extLst>
          </p:cNvPr>
          <p:cNvSpPr txBox="1"/>
          <p:nvPr/>
        </p:nvSpPr>
        <p:spPr>
          <a:xfrm>
            <a:off x="943356" y="4507879"/>
            <a:ext cx="378661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0" i="0" dirty="0">
                <a:solidFill>
                  <a:srgbClr val="F5F8FC"/>
                </a:solidFill>
              </a:rPr>
              <a:t>Wireless encryption controls in place</a:t>
            </a:r>
          </a:p>
        </p:txBody>
      </p:sp>
      <p:sp>
        <p:nvSpPr>
          <p:cNvPr id="39" name="Rounded Rectangle 32">
            <a:extLst>
              <a:ext uri="{FF2B5EF4-FFF2-40B4-BE49-F238E27FC236}">
                <a16:creationId xmlns:a16="http://schemas.microsoft.com/office/drawing/2014/main" id="{E289AF4A-FDBF-2DDB-E42C-5EA5B0703B33}"/>
              </a:ext>
            </a:extLst>
          </p:cNvPr>
          <p:cNvSpPr/>
          <p:nvPr/>
        </p:nvSpPr>
        <p:spPr>
          <a:xfrm>
            <a:off x="5945124" y="2788920"/>
            <a:ext cx="5815584" cy="2304288"/>
          </a:xfrm>
          <a:prstGeom prst="roundRect">
            <a:avLst/>
          </a:prstGeom>
          <a:solidFill>
            <a:srgbClr val="332610"/>
          </a:solidFill>
          <a:ln>
            <a:solidFill>
              <a:srgbClr val="8E6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0" name="TextBox 33">
            <a:extLst>
              <a:ext uri="{FF2B5EF4-FFF2-40B4-BE49-F238E27FC236}">
                <a16:creationId xmlns:a16="http://schemas.microsoft.com/office/drawing/2014/main" id="{212A1A1A-CFCB-E22A-65A5-FC452FB0D052}"/>
              </a:ext>
            </a:extLst>
          </p:cNvPr>
          <p:cNvSpPr txBox="1"/>
          <p:nvPr/>
        </p:nvSpPr>
        <p:spPr>
          <a:xfrm>
            <a:off x="6173724" y="2909352"/>
            <a:ext cx="281519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400" b="1" i="0">
                <a:solidFill>
                  <a:srgbClr val="F4B73A"/>
                </a:solidFill>
                <a:latin typeface="+mj-lt"/>
              </a:rPr>
              <a:t>RESIDUAL RISK / IMPROVEMENT</a:t>
            </a:r>
          </a:p>
        </p:txBody>
      </p:sp>
      <p:sp>
        <p:nvSpPr>
          <p:cNvPr id="41" name="TextBox 34">
            <a:extLst>
              <a:ext uri="{FF2B5EF4-FFF2-40B4-BE49-F238E27FC236}">
                <a16:creationId xmlns:a16="http://schemas.microsoft.com/office/drawing/2014/main" id="{76F0E0E4-4044-6A00-EFC9-9D060B71930E}"/>
              </a:ext>
            </a:extLst>
          </p:cNvPr>
          <p:cNvSpPr txBox="1"/>
          <p:nvPr/>
        </p:nvSpPr>
        <p:spPr>
          <a:xfrm>
            <a:off x="6201156" y="3387852"/>
            <a:ext cx="2011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i="0" dirty="0">
                <a:solidFill>
                  <a:srgbClr val="F4B73A"/>
                </a:solidFill>
                <a:latin typeface="Aptos"/>
              </a:rPr>
              <a:t>•</a:t>
            </a:r>
          </a:p>
        </p:txBody>
      </p:sp>
      <p:sp>
        <p:nvSpPr>
          <p:cNvPr id="42" name="TextBox 35">
            <a:extLst>
              <a:ext uri="{FF2B5EF4-FFF2-40B4-BE49-F238E27FC236}">
                <a16:creationId xmlns:a16="http://schemas.microsoft.com/office/drawing/2014/main" id="{F1C7E8D1-186B-9916-1BE4-21A4A573650A}"/>
              </a:ext>
            </a:extLst>
          </p:cNvPr>
          <p:cNvSpPr txBox="1"/>
          <p:nvPr/>
        </p:nvSpPr>
        <p:spPr>
          <a:xfrm>
            <a:off x="6326124" y="3377962"/>
            <a:ext cx="2387192" cy="3906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Selected CCTV positioning and blind</a:t>
            </a:r>
            <a:endParaRPr lang="en-US" sz="969" b="0" i="0" dirty="0">
              <a:solidFill>
                <a:srgbClr val="F5F8FC"/>
              </a:solidFill>
              <a:latin typeface="+mj-lt"/>
            </a:endParaRPr>
          </a:p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spots</a:t>
            </a:r>
          </a:p>
        </p:txBody>
      </p:sp>
      <p:sp>
        <p:nvSpPr>
          <p:cNvPr id="43" name="TextBox 36">
            <a:extLst>
              <a:ext uri="{FF2B5EF4-FFF2-40B4-BE49-F238E27FC236}">
                <a16:creationId xmlns:a16="http://schemas.microsoft.com/office/drawing/2014/main" id="{FED8348E-27B6-34A0-6920-BE3A90CD5A01}"/>
              </a:ext>
            </a:extLst>
          </p:cNvPr>
          <p:cNvSpPr txBox="1"/>
          <p:nvPr/>
        </p:nvSpPr>
        <p:spPr>
          <a:xfrm>
            <a:off x="6192012" y="3803904"/>
            <a:ext cx="2011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i="0">
                <a:solidFill>
                  <a:srgbClr val="F4B73A"/>
                </a:solidFill>
                <a:latin typeface="Aptos"/>
              </a:rPr>
              <a:t>•</a:t>
            </a:r>
          </a:p>
        </p:txBody>
      </p:sp>
      <p:sp>
        <p:nvSpPr>
          <p:cNvPr id="44" name="TextBox 37">
            <a:extLst>
              <a:ext uri="{FF2B5EF4-FFF2-40B4-BE49-F238E27FC236}">
                <a16:creationId xmlns:a16="http://schemas.microsoft.com/office/drawing/2014/main" id="{B4E161C3-6CCC-1DF4-3DB7-4B8E4861058A}"/>
              </a:ext>
            </a:extLst>
          </p:cNvPr>
          <p:cNvSpPr txBox="1"/>
          <p:nvPr/>
        </p:nvSpPr>
        <p:spPr>
          <a:xfrm>
            <a:off x="6326124" y="3847757"/>
            <a:ext cx="2568332" cy="2414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69" b="0" i="0">
                <a:solidFill>
                  <a:srgbClr val="F5F8FC"/>
                </a:solidFill>
                <a:latin typeface="+mj-lt"/>
              </a:rPr>
              <a:t>Exposed cables/equipment in ICT areas</a:t>
            </a:r>
          </a:p>
        </p:txBody>
      </p:sp>
      <p:sp>
        <p:nvSpPr>
          <p:cNvPr id="45" name="TextBox 38">
            <a:extLst>
              <a:ext uri="{FF2B5EF4-FFF2-40B4-BE49-F238E27FC236}">
                <a16:creationId xmlns:a16="http://schemas.microsoft.com/office/drawing/2014/main" id="{DD892C1F-2033-C22B-BF89-D8A12E83DBCE}"/>
              </a:ext>
            </a:extLst>
          </p:cNvPr>
          <p:cNvSpPr txBox="1"/>
          <p:nvPr/>
        </p:nvSpPr>
        <p:spPr>
          <a:xfrm>
            <a:off x="6192012" y="4270248"/>
            <a:ext cx="2011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i="0">
                <a:solidFill>
                  <a:srgbClr val="F4B73A"/>
                </a:solidFill>
                <a:latin typeface="Aptos"/>
              </a:rPr>
              <a:t>•</a:t>
            </a:r>
          </a:p>
        </p:txBody>
      </p:sp>
      <p:sp>
        <p:nvSpPr>
          <p:cNvPr id="46" name="TextBox 39">
            <a:extLst>
              <a:ext uri="{FF2B5EF4-FFF2-40B4-BE49-F238E27FC236}">
                <a16:creationId xmlns:a16="http://schemas.microsoft.com/office/drawing/2014/main" id="{E074473E-EA57-7209-319C-9339D2EFAD8F}"/>
              </a:ext>
            </a:extLst>
          </p:cNvPr>
          <p:cNvSpPr txBox="1"/>
          <p:nvPr/>
        </p:nvSpPr>
        <p:spPr>
          <a:xfrm>
            <a:off x="6326124" y="4259850"/>
            <a:ext cx="2393604" cy="3906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No differentiated staff/guest wireless </a:t>
            </a:r>
            <a:endParaRPr lang="en-US" sz="969" b="0" i="0" dirty="0">
              <a:solidFill>
                <a:srgbClr val="F5F8FC"/>
              </a:solidFill>
              <a:latin typeface="+mj-lt"/>
            </a:endParaRPr>
          </a:p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access</a:t>
            </a:r>
          </a:p>
        </p:txBody>
      </p:sp>
      <p:sp>
        <p:nvSpPr>
          <p:cNvPr id="47" name="TextBox 40">
            <a:extLst>
              <a:ext uri="{FF2B5EF4-FFF2-40B4-BE49-F238E27FC236}">
                <a16:creationId xmlns:a16="http://schemas.microsoft.com/office/drawing/2014/main" id="{44F9D25F-5221-8F7A-FD93-CA6EB6891006}"/>
              </a:ext>
            </a:extLst>
          </p:cNvPr>
          <p:cNvSpPr txBox="1"/>
          <p:nvPr/>
        </p:nvSpPr>
        <p:spPr>
          <a:xfrm>
            <a:off x="9074636" y="3387852"/>
            <a:ext cx="2011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i="0" dirty="0">
                <a:solidFill>
                  <a:srgbClr val="F4B73A"/>
                </a:solidFill>
                <a:latin typeface="Aptos"/>
              </a:rPr>
              <a:t>•</a:t>
            </a:r>
          </a:p>
        </p:txBody>
      </p:sp>
      <p:sp>
        <p:nvSpPr>
          <p:cNvPr id="48" name="TextBox 41">
            <a:extLst>
              <a:ext uri="{FF2B5EF4-FFF2-40B4-BE49-F238E27FC236}">
                <a16:creationId xmlns:a16="http://schemas.microsoft.com/office/drawing/2014/main" id="{997BFF66-A2CD-652A-580B-2D8451A27E6D}"/>
              </a:ext>
            </a:extLst>
          </p:cNvPr>
          <p:cNvSpPr txBox="1"/>
          <p:nvPr/>
        </p:nvSpPr>
        <p:spPr>
          <a:xfrm>
            <a:off x="9172956" y="3381414"/>
            <a:ext cx="2484976" cy="2414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69" b="0" i="0">
                <a:solidFill>
                  <a:srgbClr val="F5F8FC"/>
                </a:solidFill>
                <a:latin typeface="+mj-lt"/>
              </a:rPr>
              <a:t>Publicly visible authentication surfaces</a:t>
            </a:r>
          </a:p>
        </p:txBody>
      </p:sp>
      <p:sp>
        <p:nvSpPr>
          <p:cNvPr id="49" name="TextBox 42">
            <a:extLst>
              <a:ext uri="{FF2B5EF4-FFF2-40B4-BE49-F238E27FC236}">
                <a16:creationId xmlns:a16="http://schemas.microsoft.com/office/drawing/2014/main" id="{4179ABA2-E74E-6900-09C0-333221E9186C}"/>
              </a:ext>
            </a:extLst>
          </p:cNvPr>
          <p:cNvSpPr txBox="1"/>
          <p:nvPr/>
        </p:nvSpPr>
        <p:spPr>
          <a:xfrm>
            <a:off x="9067684" y="3794431"/>
            <a:ext cx="201168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i="0" dirty="0">
                <a:solidFill>
                  <a:srgbClr val="F4B73A"/>
                </a:solidFill>
                <a:latin typeface="Aptos"/>
              </a:rPr>
              <a:t>•</a:t>
            </a:r>
          </a:p>
        </p:txBody>
      </p:sp>
      <p:sp>
        <p:nvSpPr>
          <p:cNvPr id="50" name="TextBox 43">
            <a:extLst>
              <a:ext uri="{FF2B5EF4-FFF2-40B4-BE49-F238E27FC236}">
                <a16:creationId xmlns:a16="http://schemas.microsoft.com/office/drawing/2014/main" id="{0F967F2A-1A90-BB2A-7E27-731C190CB8A1}"/>
              </a:ext>
            </a:extLst>
          </p:cNvPr>
          <p:cNvSpPr txBox="1"/>
          <p:nvPr/>
        </p:nvSpPr>
        <p:spPr>
          <a:xfrm>
            <a:off x="9172956" y="3773185"/>
            <a:ext cx="2459328" cy="3906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Shortage of </a:t>
            </a:r>
            <a:r>
              <a:rPr sz="969" b="0" i="0" dirty="0" err="1">
                <a:solidFill>
                  <a:srgbClr val="F5F8FC"/>
                </a:solidFill>
                <a:latin typeface="+mj-lt"/>
              </a:rPr>
              <a:t>specialised</a:t>
            </a:r>
            <a:r>
              <a:rPr sz="969" b="0" i="0" dirty="0">
                <a:solidFill>
                  <a:srgbClr val="F5F8FC"/>
                </a:solidFill>
                <a:latin typeface="+mj-lt"/>
              </a:rPr>
              <a:t> cybersecurity </a:t>
            </a:r>
            <a:endParaRPr lang="en-US" sz="969" b="0" i="0" dirty="0">
              <a:solidFill>
                <a:srgbClr val="F5F8FC"/>
              </a:solidFill>
              <a:latin typeface="+mj-lt"/>
            </a:endParaRPr>
          </a:p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personnel</a:t>
            </a:r>
          </a:p>
        </p:txBody>
      </p:sp>
      <p:sp>
        <p:nvSpPr>
          <p:cNvPr id="51" name="TextBox 44">
            <a:extLst>
              <a:ext uri="{FF2B5EF4-FFF2-40B4-BE49-F238E27FC236}">
                <a16:creationId xmlns:a16="http://schemas.microsoft.com/office/drawing/2014/main" id="{9AE48F0C-3879-74B4-7978-0CCA7EE000C5}"/>
              </a:ext>
            </a:extLst>
          </p:cNvPr>
          <p:cNvSpPr txBox="1"/>
          <p:nvPr/>
        </p:nvSpPr>
        <p:spPr>
          <a:xfrm>
            <a:off x="9033859" y="4280952"/>
            <a:ext cx="27283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1400" b="1" i="0" dirty="0">
                <a:solidFill>
                  <a:srgbClr val="F4B73A"/>
                </a:solidFill>
                <a:latin typeface="Aptos"/>
              </a:rPr>
              <a:t>•</a:t>
            </a:r>
          </a:p>
        </p:txBody>
      </p:sp>
      <p:sp>
        <p:nvSpPr>
          <p:cNvPr id="52" name="TextBox 45">
            <a:extLst>
              <a:ext uri="{FF2B5EF4-FFF2-40B4-BE49-F238E27FC236}">
                <a16:creationId xmlns:a16="http://schemas.microsoft.com/office/drawing/2014/main" id="{FCE9B4AB-A768-29C3-DBD3-E381C3DA65ED}"/>
              </a:ext>
            </a:extLst>
          </p:cNvPr>
          <p:cNvSpPr txBox="1"/>
          <p:nvPr/>
        </p:nvSpPr>
        <p:spPr>
          <a:xfrm>
            <a:off x="9178776" y="4309800"/>
            <a:ext cx="2151551" cy="3906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Need for stronger threat-hunting </a:t>
            </a:r>
            <a:endParaRPr lang="en-US" sz="969" b="0" i="0" dirty="0">
              <a:solidFill>
                <a:srgbClr val="F5F8FC"/>
              </a:solidFill>
              <a:latin typeface="+mj-lt"/>
            </a:endParaRPr>
          </a:p>
          <a:p>
            <a:pPr algn="l"/>
            <a:r>
              <a:rPr sz="969" b="0" i="0" dirty="0">
                <a:solidFill>
                  <a:srgbClr val="F5F8FC"/>
                </a:solidFill>
                <a:latin typeface="+mj-lt"/>
              </a:rPr>
              <a:t>capability</a:t>
            </a:r>
          </a:p>
        </p:txBody>
      </p:sp>
      <p:sp>
        <p:nvSpPr>
          <p:cNvPr id="53" name="Rounded Rectangle 46">
            <a:extLst>
              <a:ext uri="{FF2B5EF4-FFF2-40B4-BE49-F238E27FC236}">
                <a16:creationId xmlns:a16="http://schemas.microsoft.com/office/drawing/2014/main" id="{29ACB773-843C-6AB5-0E6E-CF9DEAD0D201}"/>
              </a:ext>
            </a:extLst>
          </p:cNvPr>
          <p:cNvSpPr/>
          <p:nvPr/>
        </p:nvSpPr>
        <p:spPr>
          <a:xfrm>
            <a:off x="339852" y="5349239"/>
            <a:ext cx="11420856" cy="1024127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4" name="TextBox 47">
            <a:extLst>
              <a:ext uri="{FF2B5EF4-FFF2-40B4-BE49-F238E27FC236}">
                <a16:creationId xmlns:a16="http://schemas.microsoft.com/office/drawing/2014/main" id="{4AA587CF-914D-0161-1D19-64BD60DCCA76}"/>
              </a:ext>
            </a:extLst>
          </p:cNvPr>
          <p:cNvSpPr txBox="1"/>
          <p:nvPr/>
        </p:nvSpPr>
        <p:spPr>
          <a:xfrm>
            <a:off x="568452" y="5422279"/>
            <a:ext cx="240161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dirty="0">
                <a:solidFill>
                  <a:srgbClr val="FFFF00"/>
                </a:solidFill>
              </a:rPr>
              <a:t>ASSESSMENT MESSAGE</a:t>
            </a:r>
          </a:p>
        </p:txBody>
      </p:sp>
      <p:sp>
        <p:nvSpPr>
          <p:cNvPr id="55" name="TextBox 48">
            <a:extLst>
              <a:ext uri="{FF2B5EF4-FFF2-40B4-BE49-F238E27FC236}">
                <a16:creationId xmlns:a16="http://schemas.microsoft.com/office/drawing/2014/main" id="{8A5B2F35-E65B-F645-46BB-DFF9F70DDAC9}"/>
              </a:ext>
            </a:extLst>
          </p:cNvPr>
          <p:cNvSpPr txBox="1"/>
          <p:nvPr/>
        </p:nvSpPr>
        <p:spPr>
          <a:xfrm>
            <a:off x="559308" y="5709378"/>
            <a:ext cx="10151364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 dirty="0">
                <a:solidFill>
                  <a:srgbClr val="F5F8FC"/>
                </a:solidFill>
              </a:rPr>
              <a:t>DIC has significant security controls in place. The priority is to strengthen residual gaps, not to rebuild the security environment from scratch.</a:t>
            </a:r>
          </a:p>
        </p:txBody>
      </p:sp>
    </p:spTree>
    <p:extLst>
      <p:ext uri="{BB962C8B-B14F-4D97-AF65-F5344CB8AC3E}">
        <p14:creationId xmlns:p14="http://schemas.microsoft.com/office/powerpoint/2010/main" val="3213271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26351" y="5950941"/>
            <a:ext cx="45719" cy="767687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6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ENTERPRISE RISK HEATMAP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0A1A36-7A39-02AF-33F1-60A4BB25785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9F93DD-CE3B-2BF8-B801-75394C769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97" name="Rounded Rectangle 93">
            <a:extLst>
              <a:ext uri="{FF2B5EF4-FFF2-40B4-BE49-F238E27FC236}">
                <a16:creationId xmlns:a16="http://schemas.microsoft.com/office/drawing/2014/main" id="{EF9E586C-F724-F429-52C9-07B11698E44C}"/>
              </a:ext>
            </a:extLst>
          </p:cNvPr>
          <p:cNvSpPr/>
          <p:nvPr/>
        </p:nvSpPr>
        <p:spPr>
          <a:xfrm>
            <a:off x="822960" y="5535168"/>
            <a:ext cx="10652760" cy="713232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4497D59-757D-A44C-50F5-17C23D8A3562}"/>
              </a:ext>
            </a:extLst>
          </p:cNvPr>
          <p:cNvSpPr txBox="1"/>
          <p:nvPr/>
        </p:nvSpPr>
        <p:spPr>
          <a:xfrm>
            <a:off x="1092327" y="5707341"/>
            <a:ext cx="10104881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 i="0">
                <a:solidFill>
                  <a:srgbClr val="FFFF00"/>
                </a:solidFill>
                <a:latin typeface="Aptos"/>
              </a:rPr>
              <a:t>Critical: immediate attention  •  High: near-term treatment  •  Medium: planned remediation  •  Low: routine improvement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C623981C-3E10-29BA-A1CC-5DDD2048FC6A}"/>
              </a:ext>
            </a:extLst>
          </p:cNvPr>
          <p:cNvSpPr/>
          <p:nvPr/>
        </p:nvSpPr>
        <p:spPr>
          <a:xfrm>
            <a:off x="384048" y="139103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3B4A40E-9E68-DE65-E9C9-D39302ED35C5}"/>
              </a:ext>
            </a:extLst>
          </p:cNvPr>
          <p:cNvSpPr txBox="1"/>
          <p:nvPr/>
        </p:nvSpPr>
        <p:spPr>
          <a:xfrm>
            <a:off x="5798603" y="1391867"/>
            <a:ext cx="106144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 dirty="0">
                <a:solidFill>
                  <a:srgbClr val="FFFF00"/>
                </a:solidFill>
                <a:latin typeface="Aptos"/>
              </a:rPr>
              <a:t>IMPACT →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8A05F2B-3342-2A09-D416-054C32A6DBFF}"/>
              </a:ext>
            </a:extLst>
          </p:cNvPr>
          <p:cNvSpPr txBox="1"/>
          <p:nvPr/>
        </p:nvSpPr>
        <p:spPr>
          <a:xfrm>
            <a:off x="1920240" y="1455039"/>
            <a:ext cx="804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1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55ECFDD-BAC4-F456-C54D-6844F0A5ECB6}"/>
              </a:ext>
            </a:extLst>
          </p:cNvPr>
          <p:cNvSpPr txBox="1"/>
          <p:nvPr/>
        </p:nvSpPr>
        <p:spPr>
          <a:xfrm>
            <a:off x="2724912" y="1455039"/>
            <a:ext cx="804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2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FAC5069-7ED1-781F-BC18-F61787B86992}"/>
              </a:ext>
            </a:extLst>
          </p:cNvPr>
          <p:cNvSpPr txBox="1"/>
          <p:nvPr/>
        </p:nvSpPr>
        <p:spPr>
          <a:xfrm>
            <a:off x="3529584" y="1455039"/>
            <a:ext cx="804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3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564AB35-3599-1C90-DCC9-59EC2A2362BC}"/>
              </a:ext>
            </a:extLst>
          </p:cNvPr>
          <p:cNvSpPr txBox="1"/>
          <p:nvPr/>
        </p:nvSpPr>
        <p:spPr>
          <a:xfrm>
            <a:off x="4334256" y="1455039"/>
            <a:ext cx="804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4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013202F-C713-F778-2D92-55919A637B56}"/>
              </a:ext>
            </a:extLst>
          </p:cNvPr>
          <p:cNvSpPr txBox="1"/>
          <p:nvPr/>
        </p:nvSpPr>
        <p:spPr>
          <a:xfrm>
            <a:off x="5138928" y="1455039"/>
            <a:ext cx="804672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5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76CE94E-8412-083B-2C7F-CE8514EECA94}"/>
              </a:ext>
            </a:extLst>
          </p:cNvPr>
          <p:cNvSpPr txBox="1"/>
          <p:nvPr/>
        </p:nvSpPr>
        <p:spPr>
          <a:xfrm>
            <a:off x="1481328" y="175679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5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D793469-4BA2-3D4C-5297-D238FC7FC1C4}"/>
              </a:ext>
            </a:extLst>
          </p:cNvPr>
          <p:cNvSpPr txBox="1"/>
          <p:nvPr/>
        </p:nvSpPr>
        <p:spPr>
          <a:xfrm>
            <a:off x="1481328" y="239687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4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1335B9A-5809-3E3C-8596-80534E203C0D}"/>
              </a:ext>
            </a:extLst>
          </p:cNvPr>
          <p:cNvSpPr txBox="1"/>
          <p:nvPr/>
        </p:nvSpPr>
        <p:spPr>
          <a:xfrm>
            <a:off x="1481328" y="3036951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3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8A183C0-B452-025A-DF0E-AAEEB2D0D506}"/>
              </a:ext>
            </a:extLst>
          </p:cNvPr>
          <p:cNvSpPr txBox="1"/>
          <p:nvPr/>
        </p:nvSpPr>
        <p:spPr>
          <a:xfrm>
            <a:off x="1481328" y="367703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43AB6E2-CDEA-5076-E612-9CBBFBD1B095}"/>
              </a:ext>
            </a:extLst>
          </p:cNvPr>
          <p:cNvSpPr txBox="1"/>
          <p:nvPr/>
        </p:nvSpPr>
        <p:spPr>
          <a:xfrm>
            <a:off x="1481328" y="4317112"/>
            <a:ext cx="32004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AEC1D6"/>
                </a:solidFill>
                <a:latin typeface="Aptos"/>
              </a:rPr>
              <a:t>1</a:t>
            </a:r>
          </a:p>
        </p:txBody>
      </p:sp>
      <p:sp>
        <p:nvSpPr>
          <p:cNvPr id="117" name="Rounded Rectangle 16">
            <a:extLst>
              <a:ext uri="{FF2B5EF4-FFF2-40B4-BE49-F238E27FC236}">
                <a16:creationId xmlns:a16="http://schemas.microsoft.com/office/drawing/2014/main" id="{3065061A-95CE-9221-07B5-525CC3054C03}"/>
              </a:ext>
            </a:extLst>
          </p:cNvPr>
          <p:cNvSpPr/>
          <p:nvPr/>
        </p:nvSpPr>
        <p:spPr>
          <a:xfrm>
            <a:off x="1920240" y="1756792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0DEBECD-034E-2E76-B993-1B17405D7CC3}"/>
              </a:ext>
            </a:extLst>
          </p:cNvPr>
          <p:cNvSpPr txBox="1"/>
          <p:nvPr/>
        </p:nvSpPr>
        <p:spPr>
          <a:xfrm>
            <a:off x="1920240" y="1866519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5</a:t>
            </a:r>
          </a:p>
        </p:txBody>
      </p:sp>
      <p:sp>
        <p:nvSpPr>
          <p:cNvPr id="119" name="Rounded Rectangle 18">
            <a:extLst>
              <a:ext uri="{FF2B5EF4-FFF2-40B4-BE49-F238E27FC236}">
                <a16:creationId xmlns:a16="http://schemas.microsoft.com/office/drawing/2014/main" id="{B27E60A9-4828-89CB-472D-0FCF58FE17B3}"/>
              </a:ext>
            </a:extLst>
          </p:cNvPr>
          <p:cNvSpPr/>
          <p:nvPr/>
        </p:nvSpPr>
        <p:spPr>
          <a:xfrm>
            <a:off x="2724912" y="1756792"/>
            <a:ext cx="758952" cy="594359"/>
          </a:xfrm>
          <a:prstGeom prst="roundRect">
            <a:avLst/>
          </a:prstGeom>
          <a:solidFill>
            <a:srgbClr val="33261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8F88DE8-181E-0125-D433-92AA522A5A38}"/>
              </a:ext>
            </a:extLst>
          </p:cNvPr>
          <p:cNvSpPr txBox="1"/>
          <p:nvPr/>
        </p:nvSpPr>
        <p:spPr>
          <a:xfrm>
            <a:off x="2724912" y="1866519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10</a:t>
            </a:r>
          </a:p>
        </p:txBody>
      </p:sp>
      <p:sp>
        <p:nvSpPr>
          <p:cNvPr id="121" name="Rounded Rectangle 20">
            <a:extLst>
              <a:ext uri="{FF2B5EF4-FFF2-40B4-BE49-F238E27FC236}">
                <a16:creationId xmlns:a16="http://schemas.microsoft.com/office/drawing/2014/main" id="{93233941-61BA-FE90-4617-CDFB7AD31A52}"/>
              </a:ext>
            </a:extLst>
          </p:cNvPr>
          <p:cNvSpPr/>
          <p:nvPr/>
        </p:nvSpPr>
        <p:spPr>
          <a:xfrm>
            <a:off x="3529584" y="1756792"/>
            <a:ext cx="758952" cy="594359"/>
          </a:xfrm>
          <a:prstGeom prst="roundRect">
            <a:avLst/>
          </a:prstGeom>
          <a:solidFill>
            <a:srgbClr val="33261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08954D2-7D43-359D-DA1C-8E96D9C05A32}"/>
              </a:ext>
            </a:extLst>
          </p:cNvPr>
          <p:cNvSpPr txBox="1"/>
          <p:nvPr/>
        </p:nvSpPr>
        <p:spPr>
          <a:xfrm>
            <a:off x="3529584" y="1866519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15</a:t>
            </a:r>
          </a:p>
        </p:txBody>
      </p:sp>
      <p:sp>
        <p:nvSpPr>
          <p:cNvPr id="123" name="Rounded Rectangle 22">
            <a:extLst>
              <a:ext uri="{FF2B5EF4-FFF2-40B4-BE49-F238E27FC236}">
                <a16:creationId xmlns:a16="http://schemas.microsoft.com/office/drawing/2014/main" id="{B97D1403-FDF2-F377-11AC-AF1C29EA7D3E}"/>
              </a:ext>
            </a:extLst>
          </p:cNvPr>
          <p:cNvSpPr/>
          <p:nvPr/>
        </p:nvSpPr>
        <p:spPr>
          <a:xfrm>
            <a:off x="4334256" y="1756792"/>
            <a:ext cx="758952" cy="594359"/>
          </a:xfrm>
          <a:prstGeom prst="roundRect">
            <a:avLst/>
          </a:prstGeom>
          <a:solidFill>
            <a:srgbClr val="C0000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7C0BE19-C681-8CC1-D15D-8C3A122413DF}"/>
              </a:ext>
            </a:extLst>
          </p:cNvPr>
          <p:cNvSpPr txBox="1"/>
          <p:nvPr/>
        </p:nvSpPr>
        <p:spPr>
          <a:xfrm>
            <a:off x="4334256" y="1866519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20</a:t>
            </a:r>
          </a:p>
        </p:txBody>
      </p:sp>
      <p:sp>
        <p:nvSpPr>
          <p:cNvPr id="125" name="Rounded Rectangle 24">
            <a:extLst>
              <a:ext uri="{FF2B5EF4-FFF2-40B4-BE49-F238E27FC236}">
                <a16:creationId xmlns:a16="http://schemas.microsoft.com/office/drawing/2014/main" id="{E3731F8F-44D9-2F6A-8B15-D5750C8C6840}"/>
              </a:ext>
            </a:extLst>
          </p:cNvPr>
          <p:cNvSpPr/>
          <p:nvPr/>
        </p:nvSpPr>
        <p:spPr>
          <a:xfrm>
            <a:off x="5138928" y="1756792"/>
            <a:ext cx="758952" cy="594359"/>
          </a:xfrm>
          <a:prstGeom prst="roundRect">
            <a:avLst/>
          </a:prstGeom>
          <a:solidFill>
            <a:srgbClr val="FF000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BCF5920-8AD3-6112-A83C-D7899D852EF9}"/>
              </a:ext>
            </a:extLst>
          </p:cNvPr>
          <p:cNvSpPr txBox="1"/>
          <p:nvPr/>
        </p:nvSpPr>
        <p:spPr>
          <a:xfrm>
            <a:off x="5138928" y="1866519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25</a:t>
            </a:r>
          </a:p>
        </p:txBody>
      </p:sp>
      <p:sp>
        <p:nvSpPr>
          <p:cNvPr id="127" name="Rounded Rectangle 26">
            <a:extLst>
              <a:ext uri="{FF2B5EF4-FFF2-40B4-BE49-F238E27FC236}">
                <a16:creationId xmlns:a16="http://schemas.microsoft.com/office/drawing/2014/main" id="{9A4740B9-E643-F694-F510-3816B61F4EBB}"/>
              </a:ext>
            </a:extLst>
          </p:cNvPr>
          <p:cNvSpPr/>
          <p:nvPr/>
        </p:nvSpPr>
        <p:spPr>
          <a:xfrm>
            <a:off x="1920240" y="2396872"/>
            <a:ext cx="758952" cy="594359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A7AB956-4110-C438-2A3D-3AAF46C88D3F}"/>
              </a:ext>
            </a:extLst>
          </p:cNvPr>
          <p:cNvSpPr txBox="1"/>
          <p:nvPr/>
        </p:nvSpPr>
        <p:spPr>
          <a:xfrm>
            <a:off x="1920240" y="250660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129" name="Rounded Rectangle 28">
            <a:extLst>
              <a:ext uri="{FF2B5EF4-FFF2-40B4-BE49-F238E27FC236}">
                <a16:creationId xmlns:a16="http://schemas.microsoft.com/office/drawing/2014/main" id="{3CBA1AE6-F110-398A-D58D-9BB3DFEDE002}"/>
              </a:ext>
            </a:extLst>
          </p:cNvPr>
          <p:cNvSpPr/>
          <p:nvPr/>
        </p:nvSpPr>
        <p:spPr>
          <a:xfrm>
            <a:off x="2724912" y="2396872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401B46B-8B5B-9D59-F121-58920D9FBA03}"/>
              </a:ext>
            </a:extLst>
          </p:cNvPr>
          <p:cNvSpPr txBox="1"/>
          <p:nvPr/>
        </p:nvSpPr>
        <p:spPr>
          <a:xfrm>
            <a:off x="2724912" y="250660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8</a:t>
            </a:r>
          </a:p>
        </p:txBody>
      </p:sp>
      <p:sp>
        <p:nvSpPr>
          <p:cNvPr id="131" name="Rounded Rectangle 30">
            <a:extLst>
              <a:ext uri="{FF2B5EF4-FFF2-40B4-BE49-F238E27FC236}">
                <a16:creationId xmlns:a16="http://schemas.microsoft.com/office/drawing/2014/main" id="{86A9FD5E-E93D-CEF8-5C98-BDB1E5BAC87E}"/>
              </a:ext>
            </a:extLst>
          </p:cNvPr>
          <p:cNvSpPr/>
          <p:nvPr/>
        </p:nvSpPr>
        <p:spPr>
          <a:xfrm>
            <a:off x="3529584" y="2396872"/>
            <a:ext cx="758952" cy="594359"/>
          </a:xfrm>
          <a:prstGeom prst="roundRect">
            <a:avLst/>
          </a:prstGeom>
          <a:solidFill>
            <a:srgbClr val="33261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8D243A3-DE7C-6A90-2B78-1515031B9BDA}"/>
              </a:ext>
            </a:extLst>
          </p:cNvPr>
          <p:cNvSpPr txBox="1"/>
          <p:nvPr/>
        </p:nvSpPr>
        <p:spPr>
          <a:xfrm>
            <a:off x="3529584" y="250660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12</a:t>
            </a:r>
          </a:p>
        </p:txBody>
      </p:sp>
      <p:sp>
        <p:nvSpPr>
          <p:cNvPr id="133" name="Rounded Rectangle 32">
            <a:extLst>
              <a:ext uri="{FF2B5EF4-FFF2-40B4-BE49-F238E27FC236}">
                <a16:creationId xmlns:a16="http://schemas.microsoft.com/office/drawing/2014/main" id="{3F75B6BD-2FB1-8BB2-8E0E-CD2B9090B777}"/>
              </a:ext>
            </a:extLst>
          </p:cNvPr>
          <p:cNvSpPr/>
          <p:nvPr/>
        </p:nvSpPr>
        <p:spPr>
          <a:xfrm>
            <a:off x="4334256" y="2396872"/>
            <a:ext cx="758952" cy="594359"/>
          </a:xfrm>
          <a:prstGeom prst="roundRect">
            <a:avLst/>
          </a:prstGeom>
          <a:solidFill>
            <a:srgbClr val="33261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3C3BF6E-004A-8D49-AB54-E5D72564803F}"/>
              </a:ext>
            </a:extLst>
          </p:cNvPr>
          <p:cNvSpPr txBox="1"/>
          <p:nvPr/>
        </p:nvSpPr>
        <p:spPr>
          <a:xfrm>
            <a:off x="4334256" y="250660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16</a:t>
            </a:r>
          </a:p>
        </p:txBody>
      </p:sp>
      <p:sp>
        <p:nvSpPr>
          <p:cNvPr id="135" name="Rounded Rectangle 34">
            <a:extLst>
              <a:ext uri="{FF2B5EF4-FFF2-40B4-BE49-F238E27FC236}">
                <a16:creationId xmlns:a16="http://schemas.microsoft.com/office/drawing/2014/main" id="{85993707-5384-6CD2-1B9A-D307CAA310B6}"/>
              </a:ext>
            </a:extLst>
          </p:cNvPr>
          <p:cNvSpPr/>
          <p:nvPr/>
        </p:nvSpPr>
        <p:spPr>
          <a:xfrm>
            <a:off x="5138928" y="2396872"/>
            <a:ext cx="758952" cy="594359"/>
          </a:xfrm>
          <a:prstGeom prst="roundRect">
            <a:avLst/>
          </a:prstGeom>
          <a:solidFill>
            <a:srgbClr val="C0000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CFC1840-56BF-7591-BCE2-6206E78DC250}"/>
              </a:ext>
            </a:extLst>
          </p:cNvPr>
          <p:cNvSpPr txBox="1"/>
          <p:nvPr/>
        </p:nvSpPr>
        <p:spPr>
          <a:xfrm>
            <a:off x="5138928" y="250660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20</a:t>
            </a:r>
          </a:p>
        </p:txBody>
      </p:sp>
      <p:sp>
        <p:nvSpPr>
          <p:cNvPr id="137" name="Rounded Rectangle 36">
            <a:extLst>
              <a:ext uri="{FF2B5EF4-FFF2-40B4-BE49-F238E27FC236}">
                <a16:creationId xmlns:a16="http://schemas.microsoft.com/office/drawing/2014/main" id="{27A1D763-880E-7F83-62CE-0DC6D4EB10F7}"/>
              </a:ext>
            </a:extLst>
          </p:cNvPr>
          <p:cNvSpPr/>
          <p:nvPr/>
        </p:nvSpPr>
        <p:spPr>
          <a:xfrm>
            <a:off x="1920240" y="3036951"/>
            <a:ext cx="758952" cy="594359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FA45A33-792C-4825-A48E-0D83B5F8CA48}"/>
              </a:ext>
            </a:extLst>
          </p:cNvPr>
          <p:cNvSpPr txBox="1"/>
          <p:nvPr/>
        </p:nvSpPr>
        <p:spPr>
          <a:xfrm>
            <a:off x="1920240" y="314668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3</a:t>
            </a:r>
          </a:p>
        </p:txBody>
      </p:sp>
      <p:sp>
        <p:nvSpPr>
          <p:cNvPr id="139" name="Rounded Rectangle 38">
            <a:extLst>
              <a:ext uri="{FF2B5EF4-FFF2-40B4-BE49-F238E27FC236}">
                <a16:creationId xmlns:a16="http://schemas.microsoft.com/office/drawing/2014/main" id="{3A412C1A-6387-18FF-CD29-D7657DFE0EE9}"/>
              </a:ext>
            </a:extLst>
          </p:cNvPr>
          <p:cNvSpPr/>
          <p:nvPr/>
        </p:nvSpPr>
        <p:spPr>
          <a:xfrm>
            <a:off x="2724912" y="3036951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C6B0EE9-3302-E823-68A0-4809936BE3E0}"/>
              </a:ext>
            </a:extLst>
          </p:cNvPr>
          <p:cNvSpPr txBox="1"/>
          <p:nvPr/>
        </p:nvSpPr>
        <p:spPr>
          <a:xfrm>
            <a:off x="2724912" y="314668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6</a:t>
            </a:r>
          </a:p>
        </p:txBody>
      </p:sp>
      <p:sp>
        <p:nvSpPr>
          <p:cNvPr id="141" name="Rounded Rectangle 40">
            <a:extLst>
              <a:ext uri="{FF2B5EF4-FFF2-40B4-BE49-F238E27FC236}">
                <a16:creationId xmlns:a16="http://schemas.microsoft.com/office/drawing/2014/main" id="{A693BC41-791E-69B1-BA23-DA4E9640985F}"/>
              </a:ext>
            </a:extLst>
          </p:cNvPr>
          <p:cNvSpPr/>
          <p:nvPr/>
        </p:nvSpPr>
        <p:spPr>
          <a:xfrm>
            <a:off x="3529584" y="3036951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B3E142D-F316-6C92-9347-6D8376976280}"/>
              </a:ext>
            </a:extLst>
          </p:cNvPr>
          <p:cNvSpPr txBox="1"/>
          <p:nvPr/>
        </p:nvSpPr>
        <p:spPr>
          <a:xfrm>
            <a:off x="3529584" y="314668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9</a:t>
            </a:r>
          </a:p>
        </p:txBody>
      </p:sp>
      <p:sp>
        <p:nvSpPr>
          <p:cNvPr id="143" name="Rounded Rectangle 42">
            <a:extLst>
              <a:ext uri="{FF2B5EF4-FFF2-40B4-BE49-F238E27FC236}">
                <a16:creationId xmlns:a16="http://schemas.microsoft.com/office/drawing/2014/main" id="{B5E908AD-7F4E-9A45-7904-52AF4B6E112D}"/>
              </a:ext>
            </a:extLst>
          </p:cNvPr>
          <p:cNvSpPr/>
          <p:nvPr/>
        </p:nvSpPr>
        <p:spPr>
          <a:xfrm>
            <a:off x="4334256" y="3036951"/>
            <a:ext cx="758952" cy="594359"/>
          </a:xfrm>
          <a:prstGeom prst="roundRect">
            <a:avLst/>
          </a:prstGeom>
          <a:solidFill>
            <a:srgbClr val="33261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0C00B81D-CC33-FEFD-57D7-0DBDB7C1AFF1}"/>
              </a:ext>
            </a:extLst>
          </p:cNvPr>
          <p:cNvSpPr txBox="1"/>
          <p:nvPr/>
        </p:nvSpPr>
        <p:spPr>
          <a:xfrm>
            <a:off x="4334256" y="314668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12</a:t>
            </a:r>
          </a:p>
        </p:txBody>
      </p:sp>
      <p:sp>
        <p:nvSpPr>
          <p:cNvPr id="145" name="Rounded Rectangle 44">
            <a:extLst>
              <a:ext uri="{FF2B5EF4-FFF2-40B4-BE49-F238E27FC236}">
                <a16:creationId xmlns:a16="http://schemas.microsoft.com/office/drawing/2014/main" id="{AC7514B9-5F95-3FE1-537E-142758CC6B50}"/>
              </a:ext>
            </a:extLst>
          </p:cNvPr>
          <p:cNvSpPr/>
          <p:nvPr/>
        </p:nvSpPr>
        <p:spPr>
          <a:xfrm>
            <a:off x="5138928" y="3036951"/>
            <a:ext cx="758952" cy="594359"/>
          </a:xfrm>
          <a:prstGeom prst="roundRect">
            <a:avLst/>
          </a:prstGeom>
          <a:solidFill>
            <a:srgbClr val="33261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A2C4B2-5473-136E-32B1-B6ECF35A6746}"/>
              </a:ext>
            </a:extLst>
          </p:cNvPr>
          <p:cNvSpPr txBox="1"/>
          <p:nvPr/>
        </p:nvSpPr>
        <p:spPr>
          <a:xfrm>
            <a:off x="5138928" y="314668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15</a:t>
            </a:r>
          </a:p>
        </p:txBody>
      </p:sp>
      <p:sp>
        <p:nvSpPr>
          <p:cNvPr id="147" name="Rounded Rectangle 46">
            <a:extLst>
              <a:ext uri="{FF2B5EF4-FFF2-40B4-BE49-F238E27FC236}">
                <a16:creationId xmlns:a16="http://schemas.microsoft.com/office/drawing/2014/main" id="{54DCD48E-906D-87CF-D486-9F2C395C9B58}"/>
              </a:ext>
            </a:extLst>
          </p:cNvPr>
          <p:cNvSpPr/>
          <p:nvPr/>
        </p:nvSpPr>
        <p:spPr>
          <a:xfrm>
            <a:off x="1920240" y="3677032"/>
            <a:ext cx="758952" cy="594359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F54217D3-197A-F1C8-FE03-30CC5377C7CD}"/>
              </a:ext>
            </a:extLst>
          </p:cNvPr>
          <p:cNvSpPr txBox="1"/>
          <p:nvPr/>
        </p:nvSpPr>
        <p:spPr>
          <a:xfrm>
            <a:off x="1920240" y="378676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2</a:t>
            </a:r>
          </a:p>
        </p:txBody>
      </p:sp>
      <p:sp>
        <p:nvSpPr>
          <p:cNvPr id="149" name="Rounded Rectangle 48">
            <a:extLst>
              <a:ext uri="{FF2B5EF4-FFF2-40B4-BE49-F238E27FC236}">
                <a16:creationId xmlns:a16="http://schemas.microsoft.com/office/drawing/2014/main" id="{E643A9ED-6964-FC9B-2E1A-58E18F760FDB}"/>
              </a:ext>
            </a:extLst>
          </p:cNvPr>
          <p:cNvSpPr/>
          <p:nvPr/>
        </p:nvSpPr>
        <p:spPr>
          <a:xfrm>
            <a:off x="2724912" y="3677032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172AADA-CA3B-BDBA-6DF6-D894CCBD56C5}"/>
              </a:ext>
            </a:extLst>
          </p:cNvPr>
          <p:cNvSpPr txBox="1"/>
          <p:nvPr/>
        </p:nvSpPr>
        <p:spPr>
          <a:xfrm>
            <a:off x="2724912" y="378676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151" name="Rounded Rectangle 50">
            <a:extLst>
              <a:ext uri="{FF2B5EF4-FFF2-40B4-BE49-F238E27FC236}">
                <a16:creationId xmlns:a16="http://schemas.microsoft.com/office/drawing/2014/main" id="{9FC5FA7C-7549-40B4-F190-02462F92FBE4}"/>
              </a:ext>
            </a:extLst>
          </p:cNvPr>
          <p:cNvSpPr/>
          <p:nvPr/>
        </p:nvSpPr>
        <p:spPr>
          <a:xfrm>
            <a:off x="3529584" y="3677032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6A38C6A-8AEA-D7C2-EEE9-9BA1F78FCC1F}"/>
              </a:ext>
            </a:extLst>
          </p:cNvPr>
          <p:cNvSpPr txBox="1"/>
          <p:nvPr/>
        </p:nvSpPr>
        <p:spPr>
          <a:xfrm>
            <a:off x="3529584" y="378676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6</a:t>
            </a:r>
          </a:p>
        </p:txBody>
      </p:sp>
      <p:sp>
        <p:nvSpPr>
          <p:cNvPr id="153" name="Rounded Rectangle 52">
            <a:extLst>
              <a:ext uri="{FF2B5EF4-FFF2-40B4-BE49-F238E27FC236}">
                <a16:creationId xmlns:a16="http://schemas.microsoft.com/office/drawing/2014/main" id="{C0109AC1-23D0-C880-4505-A5D6EC611E4D}"/>
              </a:ext>
            </a:extLst>
          </p:cNvPr>
          <p:cNvSpPr/>
          <p:nvPr/>
        </p:nvSpPr>
        <p:spPr>
          <a:xfrm>
            <a:off x="4334256" y="3677032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B5FEF447-1AAF-3553-20C7-910769E8144F}"/>
              </a:ext>
            </a:extLst>
          </p:cNvPr>
          <p:cNvSpPr txBox="1"/>
          <p:nvPr/>
        </p:nvSpPr>
        <p:spPr>
          <a:xfrm>
            <a:off x="4334256" y="378676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8</a:t>
            </a:r>
          </a:p>
        </p:txBody>
      </p:sp>
      <p:sp>
        <p:nvSpPr>
          <p:cNvPr id="155" name="Rounded Rectangle 54">
            <a:extLst>
              <a:ext uri="{FF2B5EF4-FFF2-40B4-BE49-F238E27FC236}">
                <a16:creationId xmlns:a16="http://schemas.microsoft.com/office/drawing/2014/main" id="{A14574A5-8745-7611-E167-6FEABF38C5EA}"/>
              </a:ext>
            </a:extLst>
          </p:cNvPr>
          <p:cNvSpPr/>
          <p:nvPr/>
        </p:nvSpPr>
        <p:spPr>
          <a:xfrm>
            <a:off x="5138928" y="3677032"/>
            <a:ext cx="758952" cy="594359"/>
          </a:xfrm>
          <a:prstGeom prst="roundRect">
            <a:avLst/>
          </a:prstGeom>
          <a:solidFill>
            <a:srgbClr val="332610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D6F0EDF-8903-B096-83DB-8E4A19DDA6D8}"/>
              </a:ext>
            </a:extLst>
          </p:cNvPr>
          <p:cNvSpPr txBox="1"/>
          <p:nvPr/>
        </p:nvSpPr>
        <p:spPr>
          <a:xfrm>
            <a:off x="5138928" y="378676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10</a:t>
            </a:r>
          </a:p>
        </p:txBody>
      </p:sp>
      <p:sp>
        <p:nvSpPr>
          <p:cNvPr id="157" name="Rounded Rectangle 56">
            <a:extLst>
              <a:ext uri="{FF2B5EF4-FFF2-40B4-BE49-F238E27FC236}">
                <a16:creationId xmlns:a16="http://schemas.microsoft.com/office/drawing/2014/main" id="{072F6A8F-F95F-6040-42B0-86D330FABECF}"/>
              </a:ext>
            </a:extLst>
          </p:cNvPr>
          <p:cNvSpPr/>
          <p:nvPr/>
        </p:nvSpPr>
        <p:spPr>
          <a:xfrm>
            <a:off x="1920240" y="4317112"/>
            <a:ext cx="758952" cy="594359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D6F1C2F-113A-D426-9248-B1ADFB835254}"/>
              </a:ext>
            </a:extLst>
          </p:cNvPr>
          <p:cNvSpPr txBox="1"/>
          <p:nvPr/>
        </p:nvSpPr>
        <p:spPr>
          <a:xfrm>
            <a:off x="1920240" y="442684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1</a:t>
            </a:r>
          </a:p>
        </p:txBody>
      </p:sp>
      <p:sp>
        <p:nvSpPr>
          <p:cNvPr id="159" name="Rounded Rectangle 58">
            <a:extLst>
              <a:ext uri="{FF2B5EF4-FFF2-40B4-BE49-F238E27FC236}">
                <a16:creationId xmlns:a16="http://schemas.microsoft.com/office/drawing/2014/main" id="{EE915790-E0F1-DD5A-A38F-D9A775A7BB00}"/>
              </a:ext>
            </a:extLst>
          </p:cNvPr>
          <p:cNvSpPr/>
          <p:nvPr/>
        </p:nvSpPr>
        <p:spPr>
          <a:xfrm>
            <a:off x="2724912" y="4317112"/>
            <a:ext cx="758952" cy="594359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13A2DDC9-82CE-6C86-2945-9ED49ED29FEF}"/>
              </a:ext>
            </a:extLst>
          </p:cNvPr>
          <p:cNvSpPr txBox="1"/>
          <p:nvPr/>
        </p:nvSpPr>
        <p:spPr>
          <a:xfrm>
            <a:off x="2724912" y="442684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2</a:t>
            </a:r>
          </a:p>
        </p:txBody>
      </p:sp>
      <p:sp>
        <p:nvSpPr>
          <p:cNvPr id="161" name="Rounded Rectangle 60">
            <a:extLst>
              <a:ext uri="{FF2B5EF4-FFF2-40B4-BE49-F238E27FC236}">
                <a16:creationId xmlns:a16="http://schemas.microsoft.com/office/drawing/2014/main" id="{6044E0AA-7E2A-8669-DCD6-49B50C6215A9}"/>
              </a:ext>
            </a:extLst>
          </p:cNvPr>
          <p:cNvSpPr/>
          <p:nvPr/>
        </p:nvSpPr>
        <p:spPr>
          <a:xfrm>
            <a:off x="3529584" y="4317112"/>
            <a:ext cx="758952" cy="594359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5866836E-10C8-FD23-E7FE-970F7E2D65EB}"/>
              </a:ext>
            </a:extLst>
          </p:cNvPr>
          <p:cNvSpPr txBox="1"/>
          <p:nvPr/>
        </p:nvSpPr>
        <p:spPr>
          <a:xfrm>
            <a:off x="3529584" y="442684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3</a:t>
            </a:r>
          </a:p>
        </p:txBody>
      </p:sp>
      <p:sp>
        <p:nvSpPr>
          <p:cNvPr id="163" name="Rounded Rectangle 62">
            <a:extLst>
              <a:ext uri="{FF2B5EF4-FFF2-40B4-BE49-F238E27FC236}">
                <a16:creationId xmlns:a16="http://schemas.microsoft.com/office/drawing/2014/main" id="{A0402A2D-C59D-F4F1-3A8F-57CFFFB81BC8}"/>
              </a:ext>
            </a:extLst>
          </p:cNvPr>
          <p:cNvSpPr/>
          <p:nvPr/>
        </p:nvSpPr>
        <p:spPr>
          <a:xfrm>
            <a:off x="4334256" y="4317112"/>
            <a:ext cx="758952" cy="594359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134EB2B-1E60-618A-23F0-09304F9A10B9}"/>
              </a:ext>
            </a:extLst>
          </p:cNvPr>
          <p:cNvSpPr txBox="1"/>
          <p:nvPr/>
        </p:nvSpPr>
        <p:spPr>
          <a:xfrm>
            <a:off x="4334256" y="442684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4</a:t>
            </a:r>
          </a:p>
        </p:txBody>
      </p:sp>
      <p:sp>
        <p:nvSpPr>
          <p:cNvPr id="165" name="Rounded Rectangle 64">
            <a:extLst>
              <a:ext uri="{FF2B5EF4-FFF2-40B4-BE49-F238E27FC236}">
                <a16:creationId xmlns:a16="http://schemas.microsoft.com/office/drawing/2014/main" id="{612DEF2A-04C9-ADB3-5EC8-6BFE9FCA1A66}"/>
              </a:ext>
            </a:extLst>
          </p:cNvPr>
          <p:cNvSpPr/>
          <p:nvPr/>
        </p:nvSpPr>
        <p:spPr>
          <a:xfrm>
            <a:off x="5138928" y="4317112"/>
            <a:ext cx="758952" cy="594359"/>
          </a:xfrm>
          <a:prstGeom prst="roundRect">
            <a:avLst/>
          </a:prstGeom>
          <a:solidFill>
            <a:srgbClr val="193A32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C79F6032-47EF-3F7B-C504-31E1327CC1DF}"/>
              </a:ext>
            </a:extLst>
          </p:cNvPr>
          <p:cNvSpPr txBox="1"/>
          <p:nvPr/>
        </p:nvSpPr>
        <p:spPr>
          <a:xfrm>
            <a:off x="5138928" y="4426840"/>
            <a:ext cx="75895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 i="0">
                <a:solidFill>
                  <a:srgbClr val="F5F8FC"/>
                </a:solidFill>
                <a:latin typeface="Aptos"/>
              </a:rPr>
              <a:t>5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65C0ECFA-EA2A-A134-6713-F219ABC305DD}"/>
              </a:ext>
            </a:extLst>
          </p:cNvPr>
          <p:cNvSpPr txBox="1"/>
          <p:nvPr/>
        </p:nvSpPr>
        <p:spPr>
          <a:xfrm>
            <a:off x="165986" y="3736355"/>
            <a:ext cx="135966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 dirty="0">
                <a:solidFill>
                  <a:srgbClr val="FFFF00"/>
                </a:solidFill>
                <a:latin typeface="Aptos"/>
              </a:rPr>
              <a:t>LIKELIHOOD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304BBFC-B2C4-5139-188D-AB7AF1DDCB05}"/>
              </a:ext>
            </a:extLst>
          </p:cNvPr>
          <p:cNvSpPr txBox="1"/>
          <p:nvPr/>
        </p:nvSpPr>
        <p:spPr>
          <a:xfrm>
            <a:off x="4379976" y="2656584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4BCAFF"/>
                </a:solidFill>
                <a:latin typeface="Aptos"/>
              </a:rPr>
              <a:t>F-01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2B9286F5-CA59-F31E-2366-AA4DB2EEB688}"/>
              </a:ext>
            </a:extLst>
          </p:cNvPr>
          <p:cNvSpPr txBox="1"/>
          <p:nvPr/>
        </p:nvSpPr>
        <p:spPr>
          <a:xfrm>
            <a:off x="3575304" y="2698624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4BCAFF"/>
                </a:solidFill>
                <a:latin typeface="Aptos"/>
              </a:rPr>
              <a:t>F-02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04B3A60B-A502-97C8-02F7-28BA6214C27F}"/>
              </a:ext>
            </a:extLst>
          </p:cNvPr>
          <p:cNvSpPr txBox="1"/>
          <p:nvPr/>
        </p:nvSpPr>
        <p:spPr>
          <a:xfrm>
            <a:off x="3575304" y="3978784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4BCAFF"/>
                </a:solidFill>
                <a:latin typeface="Aptos"/>
              </a:rPr>
              <a:t>F-03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D6C846F0-1148-7668-85A3-A3AB5C1A8EE5}"/>
              </a:ext>
            </a:extLst>
          </p:cNvPr>
          <p:cNvSpPr txBox="1"/>
          <p:nvPr/>
        </p:nvSpPr>
        <p:spPr>
          <a:xfrm>
            <a:off x="2770632" y="3978784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4BCAFF"/>
                </a:solidFill>
                <a:latin typeface="Aptos"/>
              </a:rPr>
              <a:t>F-04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592EF5F-2ACC-19A2-8580-6AFCC6FE5FCC}"/>
              </a:ext>
            </a:extLst>
          </p:cNvPr>
          <p:cNvSpPr txBox="1"/>
          <p:nvPr/>
        </p:nvSpPr>
        <p:spPr>
          <a:xfrm>
            <a:off x="3575304" y="3978784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4BCAFF"/>
                </a:solidFill>
                <a:latin typeface="Aptos"/>
              </a:rPr>
              <a:t>F-05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5CE003D-8EBD-481C-9BC4-907A5FE243B3}"/>
              </a:ext>
            </a:extLst>
          </p:cNvPr>
          <p:cNvSpPr txBox="1"/>
          <p:nvPr/>
        </p:nvSpPr>
        <p:spPr>
          <a:xfrm>
            <a:off x="4379976" y="2058544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4BCAFF"/>
                </a:solidFill>
                <a:latin typeface="Aptos"/>
              </a:rPr>
              <a:t>F-06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F6F0C7C7-743A-A895-8E1C-98F2E950A3D4}"/>
              </a:ext>
            </a:extLst>
          </p:cNvPr>
          <p:cNvSpPr txBox="1"/>
          <p:nvPr/>
        </p:nvSpPr>
        <p:spPr>
          <a:xfrm>
            <a:off x="4379976" y="3338703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>
                <a:solidFill>
                  <a:srgbClr val="4BCAFF"/>
                </a:solidFill>
                <a:latin typeface="Aptos"/>
              </a:rPr>
              <a:t>F-07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92CECE86-1FEC-D76B-1BFC-3553B4640D00}"/>
              </a:ext>
            </a:extLst>
          </p:cNvPr>
          <p:cNvSpPr txBox="1"/>
          <p:nvPr/>
        </p:nvSpPr>
        <p:spPr>
          <a:xfrm>
            <a:off x="3575304" y="3286153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 dirty="0">
                <a:solidFill>
                  <a:srgbClr val="4BCAFF"/>
                </a:solidFill>
                <a:latin typeface="Aptos"/>
              </a:rPr>
              <a:t>F-08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35D3BABF-B309-F337-F68E-3223F43BE996}"/>
              </a:ext>
            </a:extLst>
          </p:cNvPr>
          <p:cNvSpPr txBox="1"/>
          <p:nvPr/>
        </p:nvSpPr>
        <p:spPr>
          <a:xfrm>
            <a:off x="4379976" y="2771298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 dirty="0">
                <a:solidFill>
                  <a:srgbClr val="4BCAFF"/>
                </a:solidFill>
                <a:latin typeface="Aptos"/>
              </a:rPr>
              <a:t>F-09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08642E94-9255-AD0A-B633-9BDDDBBE03AA}"/>
              </a:ext>
            </a:extLst>
          </p:cNvPr>
          <p:cNvSpPr txBox="1"/>
          <p:nvPr/>
        </p:nvSpPr>
        <p:spPr>
          <a:xfrm>
            <a:off x="3575304" y="3410816"/>
            <a:ext cx="6675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50" b="1" i="0" dirty="0">
                <a:solidFill>
                  <a:srgbClr val="4BCAFF"/>
                </a:solidFill>
                <a:latin typeface="Aptos"/>
              </a:rPr>
              <a:t>F-10</a:t>
            </a:r>
          </a:p>
        </p:txBody>
      </p:sp>
      <p:sp>
        <p:nvSpPr>
          <p:cNvPr id="178" name="Rounded Rectangle 77">
            <a:extLst>
              <a:ext uri="{FF2B5EF4-FFF2-40B4-BE49-F238E27FC236}">
                <a16:creationId xmlns:a16="http://schemas.microsoft.com/office/drawing/2014/main" id="{58A4186E-1253-E7D7-ADF5-EFA8F08173D7}"/>
              </a:ext>
            </a:extLst>
          </p:cNvPr>
          <p:cNvSpPr/>
          <p:nvPr/>
        </p:nvSpPr>
        <p:spPr>
          <a:xfrm>
            <a:off x="6675120" y="1773502"/>
            <a:ext cx="4800600" cy="3495727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34B83DE0-4A89-2130-797E-0A505FD31A38}"/>
              </a:ext>
            </a:extLst>
          </p:cNvPr>
          <p:cNvSpPr txBox="1"/>
          <p:nvPr/>
        </p:nvSpPr>
        <p:spPr>
          <a:xfrm>
            <a:off x="6903720" y="2076832"/>
            <a:ext cx="201168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4BCAFF"/>
                </a:solidFill>
                <a:latin typeface="Aptos"/>
              </a:rPr>
              <a:t>RISK PRIORITY</a:t>
            </a:r>
          </a:p>
        </p:txBody>
      </p:sp>
      <p:sp>
        <p:nvSpPr>
          <p:cNvPr id="180" name="Rounded Rectangle 79">
            <a:extLst>
              <a:ext uri="{FF2B5EF4-FFF2-40B4-BE49-F238E27FC236}">
                <a16:creationId xmlns:a16="http://schemas.microsoft.com/office/drawing/2014/main" id="{BE81BDF7-F8BE-A850-E829-6E720230D4F7}"/>
              </a:ext>
            </a:extLst>
          </p:cNvPr>
          <p:cNvSpPr/>
          <p:nvPr/>
        </p:nvSpPr>
        <p:spPr>
          <a:xfrm>
            <a:off x="6903720" y="2515743"/>
            <a:ext cx="164592" cy="292608"/>
          </a:xfrm>
          <a:prstGeom prst="roundRect">
            <a:avLst/>
          </a:prstGeom>
          <a:solidFill>
            <a:srgbClr val="C00000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5B34990C-06B4-4C2D-22A3-F5A2E38EEDAA}"/>
              </a:ext>
            </a:extLst>
          </p:cNvPr>
          <p:cNvSpPr txBox="1"/>
          <p:nvPr/>
        </p:nvSpPr>
        <p:spPr>
          <a:xfrm>
            <a:off x="7187184" y="2515743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CRITICAL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3054F226-3E4A-5022-10CD-31F67CCA539B}"/>
              </a:ext>
            </a:extLst>
          </p:cNvPr>
          <p:cNvSpPr txBox="1"/>
          <p:nvPr/>
        </p:nvSpPr>
        <p:spPr>
          <a:xfrm>
            <a:off x="9875520" y="2515743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 i="0">
                <a:solidFill>
                  <a:srgbClr val="E05858"/>
                </a:solidFill>
                <a:latin typeface="Aptos"/>
              </a:rPr>
              <a:t>1</a:t>
            </a:r>
          </a:p>
        </p:txBody>
      </p:sp>
      <p:sp>
        <p:nvSpPr>
          <p:cNvPr id="183" name="Rounded Rectangle 82">
            <a:extLst>
              <a:ext uri="{FF2B5EF4-FFF2-40B4-BE49-F238E27FC236}">
                <a16:creationId xmlns:a16="http://schemas.microsoft.com/office/drawing/2014/main" id="{F3C08A9C-C3A1-8A8E-37B1-F343F2FCE7FE}"/>
              </a:ext>
            </a:extLst>
          </p:cNvPr>
          <p:cNvSpPr/>
          <p:nvPr/>
        </p:nvSpPr>
        <p:spPr>
          <a:xfrm>
            <a:off x="6903720" y="3018664"/>
            <a:ext cx="164592" cy="292608"/>
          </a:xfrm>
          <a:prstGeom prst="roundRect">
            <a:avLst/>
          </a:prstGeom>
          <a:solidFill>
            <a:srgbClr val="F4B73A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A6A37C6E-4849-8A1E-B7FC-D78825C8F6F9}"/>
              </a:ext>
            </a:extLst>
          </p:cNvPr>
          <p:cNvSpPr txBox="1"/>
          <p:nvPr/>
        </p:nvSpPr>
        <p:spPr>
          <a:xfrm>
            <a:off x="7187184" y="3018664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HIGH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68D25E5-87EC-9990-8869-3D3381B4AB5E}"/>
              </a:ext>
            </a:extLst>
          </p:cNvPr>
          <p:cNvSpPr txBox="1"/>
          <p:nvPr/>
        </p:nvSpPr>
        <p:spPr>
          <a:xfrm>
            <a:off x="9875520" y="3018664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 i="0">
                <a:solidFill>
                  <a:srgbClr val="F4B73A"/>
                </a:solidFill>
                <a:latin typeface="Aptos"/>
              </a:rPr>
              <a:t>4</a:t>
            </a:r>
          </a:p>
        </p:txBody>
      </p:sp>
      <p:sp>
        <p:nvSpPr>
          <p:cNvPr id="186" name="Rounded Rectangle 85">
            <a:extLst>
              <a:ext uri="{FF2B5EF4-FFF2-40B4-BE49-F238E27FC236}">
                <a16:creationId xmlns:a16="http://schemas.microsoft.com/office/drawing/2014/main" id="{9CD2826B-BCAF-C5EC-DB34-754D807F2A74}"/>
              </a:ext>
            </a:extLst>
          </p:cNvPr>
          <p:cNvSpPr/>
          <p:nvPr/>
        </p:nvSpPr>
        <p:spPr>
          <a:xfrm>
            <a:off x="6903720" y="3521584"/>
            <a:ext cx="164592" cy="292608"/>
          </a:xfrm>
          <a:prstGeom prst="roundRect">
            <a:avLst/>
          </a:prstGeom>
          <a:solidFill>
            <a:srgbClr val="193A32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97B15ECA-767D-18C3-4FE1-E4F051948E35}"/>
              </a:ext>
            </a:extLst>
          </p:cNvPr>
          <p:cNvSpPr txBox="1"/>
          <p:nvPr/>
        </p:nvSpPr>
        <p:spPr>
          <a:xfrm>
            <a:off x="7187184" y="3521584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MEDIUM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A9B5AB1E-9077-CAB5-C320-8E192724921F}"/>
              </a:ext>
            </a:extLst>
          </p:cNvPr>
          <p:cNvSpPr txBox="1"/>
          <p:nvPr/>
        </p:nvSpPr>
        <p:spPr>
          <a:xfrm>
            <a:off x="9875520" y="3521584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 i="0">
                <a:solidFill>
                  <a:srgbClr val="48C269"/>
                </a:solidFill>
                <a:latin typeface="Aptos"/>
              </a:rPr>
              <a:t>4</a:t>
            </a:r>
          </a:p>
        </p:txBody>
      </p:sp>
      <p:sp>
        <p:nvSpPr>
          <p:cNvPr id="189" name="Rounded Rectangle 88">
            <a:extLst>
              <a:ext uri="{FF2B5EF4-FFF2-40B4-BE49-F238E27FC236}">
                <a16:creationId xmlns:a16="http://schemas.microsoft.com/office/drawing/2014/main" id="{599B9971-258A-0925-867C-4F7DC84BD666}"/>
              </a:ext>
            </a:extLst>
          </p:cNvPr>
          <p:cNvSpPr/>
          <p:nvPr/>
        </p:nvSpPr>
        <p:spPr>
          <a:xfrm>
            <a:off x="6903720" y="4024503"/>
            <a:ext cx="164592" cy="292608"/>
          </a:xfrm>
          <a:prstGeom prst="roundRect">
            <a:avLst/>
          </a:prstGeom>
          <a:solidFill>
            <a:srgbClr val="AEC1D6"/>
          </a:solidFill>
          <a:ln>
            <a:solidFill>
              <a:srgbClr val="AEC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4757C9BA-68E9-B14E-EEDC-85C04B1C924C}"/>
              </a:ext>
            </a:extLst>
          </p:cNvPr>
          <p:cNvSpPr txBox="1"/>
          <p:nvPr/>
        </p:nvSpPr>
        <p:spPr>
          <a:xfrm>
            <a:off x="7187184" y="4024503"/>
            <a:ext cx="15087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F5F8FC"/>
                </a:solidFill>
                <a:latin typeface="Aptos"/>
              </a:rPr>
              <a:t>LOW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B780E6B6-1FD9-3A33-1DC1-77BDAE448011}"/>
              </a:ext>
            </a:extLst>
          </p:cNvPr>
          <p:cNvSpPr txBox="1"/>
          <p:nvPr/>
        </p:nvSpPr>
        <p:spPr>
          <a:xfrm>
            <a:off x="9875520" y="4024503"/>
            <a:ext cx="10515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 i="0">
                <a:solidFill>
                  <a:srgbClr val="AEC1D6"/>
                </a:solidFill>
                <a:latin typeface="Aptos"/>
              </a:rPr>
              <a:t>1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080C61B5-58E2-3CED-2AF2-B2544DCDA35C}"/>
              </a:ext>
            </a:extLst>
          </p:cNvPr>
          <p:cNvSpPr txBox="1"/>
          <p:nvPr/>
        </p:nvSpPr>
        <p:spPr>
          <a:xfrm>
            <a:off x="6818870" y="4374099"/>
            <a:ext cx="444653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Highest priority: F-06 Cybersecurity Skills Gap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76463F7-1206-BD94-BCF4-6C6225A0AB43}"/>
              </a:ext>
            </a:extLst>
          </p:cNvPr>
          <p:cNvSpPr txBox="1"/>
          <p:nvPr/>
        </p:nvSpPr>
        <p:spPr>
          <a:xfrm>
            <a:off x="6818870" y="4717000"/>
            <a:ext cx="194393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 dirty="0">
                <a:solidFill>
                  <a:srgbClr val="E05858"/>
                </a:solidFill>
                <a:latin typeface="Aptos"/>
              </a:rPr>
              <a:t>Score 20 — Critical</a:t>
            </a: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321DE6B2-5420-6CA2-1858-9F9F515237A6}"/>
              </a:ext>
            </a:extLst>
          </p:cNvPr>
          <p:cNvSpPr txBox="1"/>
          <p:nvPr/>
        </p:nvSpPr>
        <p:spPr>
          <a:xfrm>
            <a:off x="282448" y="936949"/>
            <a:ext cx="565090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b="1" i="0" dirty="0">
                <a:solidFill>
                  <a:srgbClr val="FFFF00"/>
                </a:solidFill>
                <a:latin typeface="+mj-lt"/>
              </a:rPr>
              <a:t>RISK ASSESSMENT MATRIX (LIKELIHOOD X IMPACT)</a:t>
            </a:r>
            <a:endParaRPr b="1" i="0" dirty="0">
              <a:solidFill>
                <a:srgbClr val="FFF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4142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72070" y="6438508"/>
            <a:ext cx="62264" cy="280120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7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CRITICAL RISK DEEP-DIVE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E23E37A-CDA0-1C85-B0F4-3560A85D3D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AEC45AF-157F-0FEA-DE42-6FA552F84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9728C18E-9FE0-5DF1-DF73-99D381ED0DEA}"/>
              </a:ext>
            </a:extLst>
          </p:cNvPr>
          <p:cNvSpPr/>
          <p:nvPr/>
        </p:nvSpPr>
        <p:spPr>
          <a:xfrm>
            <a:off x="384048" y="1656960"/>
            <a:ext cx="3657600" cy="4160520"/>
          </a:xfrm>
          <a:prstGeom prst="roundRect">
            <a:avLst/>
          </a:prstGeom>
          <a:solidFill>
            <a:srgbClr val="3E191E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8F8DA1-76A8-7CCE-D5E6-A3F401459DCA}"/>
              </a:ext>
            </a:extLst>
          </p:cNvPr>
          <p:cNvSpPr txBox="1"/>
          <p:nvPr/>
        </p:nvSpPr>
        <p:spPr>
          <a:xfrm>
            <a:off x="658368" y="1903848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i="0">
                <a:solidFill>
                  <a:srgbClr val="E05858"/>
                </a:solidFill>
                <a:latin typeface="Aptos"/>
              </a:rPr>
              <a:t>F-06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5145A2-359D-C129-09FC-9E5C09EF835A}"/>
              </a:ext>
            </a:extLst>
          </p:cNvPr>
          <p:cNvSpPr txBox="1"/>
          <p:nvPr/>
        </p:nvSpPr>
        <p:spPr>
          <a:xfrm>
            <a:off x="658368" y="2324472"/>
            <a:ext cx="306324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000" b="1" i="0">
                <a:solidFill>
                  <a:srgbClr val="F5F8FC"/>
                </a:solidFill>
                <a:latin typeface="Aptos"/>
              </a:rPr>
              <a:t>CYBERSECURITY
SKILLS GAP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12C43C-543C-5F84-652B-186D70A906E9}"/>
              </a:ext>
            </a:extLst>
          </p:cNvPr>
          <p:cNvSpPr txBox="1"/>
          <p:nvPr/>
        </p:nvSpPr>
        <p:spPr>
          <a:xfrm>
            <a:off x="658368" y="3184008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AEC1D6"/>
                </a:solidFill>
                <a:latin typeface="Aptos"/>
              </a:rPr>
              <a:t>LIKELIHOOD  5 /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DDF975-BBD7-4C8D-FDFB-ACEF20B633BD}"/>
              </a:ext>
            </a:extLst>
          </p:cNvPr>
          <p:cNvSpPr txBox="1"/>
          <p:nvPr/>
        </p:nvSpPr>
        <p:spPr>
          <a:xfrm>
            <a:off x="658368" y="3604632"/>
            <a:ext cx="3017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AEC1D6"/>
                </a:solidFill>
                <a:latin typeface="Aptos"/>
              </a:rPr>
              <a:t>IMPACT  4 / 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B390AB-BAC3-1ECF-9986-FE43C01E042C}"/>
              </a:ext>
            </a:extLst>
          </p:cNvPr>
          <p:cNvSpPr txBox="1"/>
          <p:nvPr/>
        </p:nvSpPr>
        <p:spPr>
          <a:xfrm>
            <a:off x="658368" y="4034400"/>
            <a:ext cx="3017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 i="0">
                <a:solidFill>
                  <a:srgbClr val="AEC1D6"/>
                </a:solidFill>
                <a:latin typeface="Aptos"/>
              </a:rPr>
              <a:t>RISK SCORE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1F05CEB-F5A9-CEA1-D6C7-C8E90AEF819A}"/>
              </a:ext>
            </a:extLst>
          </p:cNvPr>
          <p:cNvSpPr txBox="1"/>
          <p:nvPr/>
        </p:nvSpPr>
        <p:spPr>
          <a:xfrm>
            <a:off x="658368" y="4400160"/>
            <a:ext cx="30175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300" b="1" i="0">
                <a:solidFill>
                  <a:srgbClr val="E05858"/>
                </a:solidFill>
                <a:latin typeface="Aptos"/>
              </a:rPr>
              <a:t>20  |  CRITICAL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CCF5F4-9AF5-D193-DA97-A4E80DB0AF34}"/>
              </a:ext>
            </a:extLst>
          </p:cNvPr>
          <p:cNvSpPr txBox="1"/>
          <p:nvPr/>
        </p:nvSpPr>
        <p:spPr>
          <a:xfrm>
            <a:off x="4370832" y="1624843"/>
            <a:ext cx="175849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FFF00"/>
                </a:solidFill>
                <a:latin typeface="Aptos"/>
              </a:rPr>
              <a:t>WHY IT MATTERS</a:t>
            </a:r>
          </a:p>
        </p:txBody>
      </p:sp>
      <p:sp>
        <p:nvSpPr>
          <p:cNvPr id="48" name="Rounded Rectangle 13">
            <a:extLst>
              <a:ext uri="{FF2B5EF4-FFF2-40B4-BE49-F238E27FC236}">
                <a16:creationId xmlns:a16="http://schemas.microsoft.com/office/drawing/2014/main" id="{9A2E977D-EA9D-0FBC-B58E-3F69B0599D56}"/>
              </a:ext>
            </a:extLst>
          </p:cNvPr>
          <p:cNvSpPr/>
          <p:nvPr/>
        </p:nvSpPr>
        <p:spPr>
          <a:xfrm>
            <a:off x="4370832" y="2050152"/>
            <a:ext cx="3246120" cy="685800"/>
          </a:xfrm>
          <a:prstGeom prst="roundRect">
            <a:avLst/>
          </a:prstGeom>
          <a:solidFill>
            <a:srgbClr val="081F3D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D2E76A2-D23A-08F3-F465-F0005F3F4D24}"/>
              </a:ext>
            </a:extLst>
          </p:cNvPr>
          <p:cNvSpPr txBox="1"/>
          <p:nvPr/>
        </p:nvSpPr>
        <p:spPr>
          <a:xfrm>
            <a:off x="4405904" y="2155754"/>
            <a:ext cx="229005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 dirty="0">
                <a:solidFill>
                  <a:srgbClr val="FFFF00"/>
                </a:solidFill>
                <a:latin typeface="Aptos"/>
              </a:rPr>
              <a:t>SOPHISTICATED THREATS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C0C76E-786E-2E62-68DE-65CC0C6679AB}"/>
              </a:ext>
            </a:extLst>
          </p:cNvPr>
          <p:cNvSpPr txBox="1"/>
          <p:nvPr/>
        </p:nvSpPr>
        <p:spPr>
          <a:xfrm>
            <a:off x="4391998" y="2410332"/>
            <a:ext cx="3094059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0" dirty="0">
                <a:solidFill>
                  <a:srgbClr val="F5F8FC"/>
                </a:solidFill>
                <a:latin typeface="Aptos"/>
              </a:rPr>
              <a:t>State-sponsored APTs seek tactical intelligence.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DC8D89-E422-DBCA-FAC1-4959DFE54DBE}"/>
              </a:ext>
            </a:extLst>
          </p:cNvPr>
          <p:cNvSpPr txBox="1"/>
          <p:nvPr/>
        </p:nvSpPr>
        <p:spPr>
          <a:xfrm>
            <a:off x="5779008" y="2708519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AEC1D6"/>
                </a:solidFill>
                <a:latin typeface="Aptos"/>
              </a:rPr>
              <a:t>↓</a:t>
            </a:r>
          </a:p>
        </p:txBody>
      </p:sp>
      <p:sp>
        <p:nvSpPr>
          <p:cNvPr id="52" name="Rounded Rectangle 17">
            <a:extLst>
              <a:ext uri="{FF2B5EF4-FFF2-40B4-BE49-F238E27FC236}">
                <a16:creationId xmlns:a16="http://schemas.microsoft.com/office/drawing/2014/main" id="{FA097ADF-75DE-4957-26DE-37968EAEEEA3}"/>
              </a:ext>
            </a:extLst>
          </p:cNvPr>
          <p:cNvSpPr/>
          <p:nvPr/>
        </p:nvSpPr>
        <p:spPr>
          <a:xfrm>
            <a:off x="4370832" y="2946264"/>
            <a:ext cx="3246120" cy="685800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6F9708-665A-3983-DA48-4E157890D7E0}"/>
              </a:ext>
            </a:extLst>
          </p:cNvPr>
          <p:cNvSpPr txBox="1"/>
          <p:nvPr/>
        </p:nvSpPr>
        <p:spPr>
          <a:xfrm>
            <a:off x="4405904" y="3057551"/>
            <a:ext cx="207762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 dirty="0">
                <a:solidFill>
                  <a:srgbClr val="FFFF00"/>
                </a:solidFill>
                <a:latin typeface="Aptos"/>
              </a:rPr>
              <a:t>ADVANCED CONTROLS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E5AD40-FFC0-6492-61CD-8AA9B629521C}"/>
              </a:ext>
            </a:extLst>
          </p:cNvPr>
          <p:cNvSpPr txBox="1"/>
          <p:nvPr/>
        </p:nvSpPr>
        <p:spPr>
          <a:xfrm>
            <a:off x="4334255" y="3306444"/>
            <a:ext cx="2950633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 i="0" dirty="0">
                <a:solidFill>
                  <a:srgbClr val="F5F8FC"/>
                </a:solidFill>
                <a:latin typeface="Aptos"/>
              </a:rPr>
              <a:t>Air-gapping • Zero Trust • MFA • EDR • NGFW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B518FC-EC9D-6BF5-CBC3-CB00BFCE4A22}"/>
              </a:ext>
            </a:extLst>
          </p:cNvPr>
          <p:cNvSpPr txBox="1"/>
          <p:nvPr/>
        </p:nvSpPr>
        <p:spPr>
          <a:xfrm>
            <a:off x="5779008" y="3604632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AEC1D6"/>
                </a:solidFill>
                <a:latin typeface="Aptos"/>
              </a:rPr>
              <a:t>↓</a:t>
            </a:r>
          </a:p>
        </p:txBody>
      </p:sp>
      <p:sp>
        <p:nvSpPr>
          <p:cNvPr id="56" name="Rounded Rectangle 21">
            <a:extLst>
              <a:ext uri="{FF2B5EF4-FFF2-40B4-BE49-F238E27FC236}">
                <a16:creationId xmlns:a16="http://schemas.microsoft.com/office/drawing/2014/main" id="{8732BF84-7E3C-C80B-594A-8F948439E656}"/>
              </a:ext>
            </a:extLst>
          </p:cNvPr>
          <p:cNvSpPr/>
          <p:nvPr/>
        </p:nvSpPr>
        <p:spPr>
          <a:xfrm>
            <a:off x="4370832" y="3842376"/>
            <a:ext cx="3246120" cy="685800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639441-4F9D-EBD3-C3DD-F1B0CA131649}"/>
              </a:ext>
            </a:extLst>
          </p:cNvPr>
          <p:cNvSpPr txBox="1"/>
          <p:nvPr/>
        </p:nvSpPr>
        <p:spPr>
          <a:xfrm>
            <a:off x="4405904" y="3899413"/>
            <a:ext cx="181735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 dirty="0">
                <a:solidFill>
                  <a:srgbClr val="FFFF00"/>
                </a:solidFill>
                <a:latin typeface="Aptos"/>
              </a:rPr>
              <a:t>HUMAN CAPABILITY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0598EFD-749A-82B2-718F-04D83697B59B}"/>
              </a:ext>
            </a:extLst>
          </p:cNvPr>
          <p:cNvSpPr txBox="1"/>
          <p:nvPr/>
        </p:nvSpPr>
        <p:spPr>
          <a:xfrm>
            <a:off x="4391998" y="4114085"/>
            <a:ext cx="2982836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0" dirty="0">
                <a:solidFill>
                  <a:srgbClr val="F5F8FC"/>
                </a:solidFill>
                <a:latin typeface="Aptos"/>
              </a:rPr>
              <a:t>Specialist shortage constrains monitoring and threat hunting.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239CD7-49A5-5D05-7C3F-54F28F90B400}"/>
              </a:ext>
            </a:extLst>
          </p:cNvPr>
          <p:cNvSpPr txBox="1"/>
          <p:nvPr/>
        </p:nvSpPr>
        <p:spPr>
          <a:xfrm>
            <a:off x="5779008" y="4500743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AEC1D6"/>
                </a:solidFill>
                <a:latin typeface="Aptos"/>
              </a:rPr>
              <a:t>↓</a:t>
            </a:r>
          </a:p>
        </p:txBody>
      </p:sp>
      <p:sp>
        <p:nvSpPr>
          <p:cNvPr id="60" name="Rounded Rectangle 25">
            <a:extLst>
              <a:ext uri="{FF2B5EF4-FFF2-40B4-BE49-F238E27FC236}">
                <a16:creationId xmlns:a16="http://schemas.microsoft.com/office/drawing/2014/main" id="{76EADCD9-1723-4E0F-8E34-952AACD74B23}"/>
              </a:ext>
            </a:extLst>
          </p:cNvPr>
          <p:cNvSpPr/>
          <p:nvPr/>
        </p:nvSpPr>
        <p:spPr>
          <a:xfrm>
            <a:off x="4370832" y="4738488"/>
            <a:ext cx="3246120" cy="68580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CB67C0D-D294-688C-1F38-FE374411F87B}"/>
              </a:ext>
            </a:extLst>
          </p:cNvPr>
          <p:cNvSpPr txBox="1"/>
          <p:nvPr/>
        </p:nvSpPr>
        <p:spPr>
          <a:xfrm>
            <a:off x="4411714" y="4767287"/>
            <a:ext cx="156337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 dirty="0">
                <a:solidFill>
                  <a:srgbClr val="FFFF00"/>
                </a:solidFill>
                <a:latin typeface="Aptos"/>
              </a:rPr>
              <a:t>MISSION EFFECT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625628-D065-13D7-134E-7E7420D06A2A}"/>
              </a:ext>
            </a:extLst>
          </p:cNvPr>
          <p:cNvSpPr txBox="1"/>
          <p:nvPr/>
        </p:nvSpPr>
        <p:spPr>
          <a:xfrm>
            <a:off x="4399881" y="4995606"/>
            <a:ext cx="3086176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0" i="0" dirty="0">
                <a:solidFill>
                  <a:srgbClr val="F5F8FC"/>
                </a:solidFill>
                <a:latin typeface="Aptos"/>
              </a:rPr>
              <a:t>Reduced ability to sustain advanced defensive operations.</a:t>
            </a:r>
          </a:p>
        </p:txBody>
      </p:sp>
      <p:sp>
        <p:nvSpPr>
          <p:cNvPr id="63" name="Rounded Rectangle 28">
            <a:extLst>
              <a:ext uri="{FF2B5EF4-FFF2-40B4-BE49-F238E27FC236}">
                <a16:creationId xmlns:a16="http://schemas.microsoft.com/office/drawing/2014/main" id="{1AF95F7B-F684-C217-3A1B-A075438B8A53}"/>
              </a:ext>
            </a:extLst>
          </p:cNvPr>
          <p:cNvSpPr/>
          <p:nvPr/>
        </p:nvSpPr>
        <p:spPr>
          <a:xfrm>
            <a:off x="7891272" y="1656960"/>
            <a:ext cx="3913632" cy="4160520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6636E66-E50E-6B8B-C4FF-3F9045F9D3ED}"/>
              </a:ext>
            </a:extLst>
          </p:cNvPr>
          <p:cNvSpPr txBox="1"/>
          <p:nvPr/>
        </p:nvSpPr>
        <p:spPr>
          <a:xfrm>
            <a:off x="8156448" y="1865486"/>
            <a:ext cx="256679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1" i="0" dirty="0">
                <a:solidFill>
                  <a:srgbClr val="4BCAFF"/>
                </a:solidFill>
                <a:latin typeface="Aptos"/>
              </a:rPr>
              <a:t>STRATEGIC RESPONSE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77B40E-8EF9-B861-7FA0-AC080D2A7724}"/>
              </a:ext>
            </a:extLst>
          </p:cNvPr>
          <p:cNvSpPr txBox="1"/>
          <p:nvPr/>
        </p:nvSpPr>
        <p:spPr>
          <a:xfrm>
            <a:off x="8129794" y="2447081"/>
            <a:ext cx="364203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i="0" dirty="0">
                <a:solidFill>
                  <a:srgbClr val="4BCAFF"/>
                </a:solidFill>
                <a:latin typeface="Aptos"/>
              </a:rPr>
              <a:t>01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38668C-16E7-2757-B120-7B40EC9E69D9}"/>
              </a:ext>
            </a:extLst>
          </p:cNvPr>
          <p:cNvSpPr txBox="1"/>
          <p:nvPr/>
        </p:nvSpPr>
        <p:spPr>
          <a:xfrm>
            <a:off x="8577072" y="2434309"/>
            <a:ext cx="2705741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Strengthen specialist cyber staffing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0E5A2F5-8CD1-417A-6C52-D7A55BD0901F}"/>
              </a:ext>
            </a:extLst>
          </p:cNvPr>
          <p:cNvSpPr txBox="1"/>
          <p:nvPr/>
        </p:nvSpPr>
        <p:spPr>
          <a:xfrm>
            <a:off x="8129794" y="3014010"/>
            <a:ext cx="364203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i="0">
                <a:solidFill>
                  <a:srgbClr val="4BCAFF"/>
                </a:solidFill>
                <a:latin typeface="Aptos"/>
              </a:rPr>
              <a:t>02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84E253-607B-AAAB-C248-2BA4936726A7}"/>
              </a:ext>
            </a:extLst>
          </p:cNvPr>
          <p:cNvSpPr txBox="1"/>
          <p:nvPr/>
        </p:nvSpPr>
        <p:spPr>
          <a:xfrm>
            <a:off x="8577072" y="3001238"/>
            <a:ext cx="3180038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Expand practical threat-hunting capability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6FB649-D293-9927-7454-5DEBEA0F808D}"/>
              </a:ext>
            </a:extLst>
          </p:cNvPr>
          <p:cNvSpPr txBox="1"/>
          <p:nvPr/>
        </p:nvSpPr>
        <p:spPr>
          <a:xfrm>
            <a:off x="8129794" y="3580937"/>
            <a:ext cx="364203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i="0">
                <a:solidFill>
                  <a:srgbClr val="4BCAFF"/>
                </a:solidFill>
                <a:latin typeface="Aptos"/>
              </a:rPr>
              <a:t>03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FCBEDB-99DF-FC4C-421D-38EA8D9F1FE4}"/>
              </a:ext>
            </a:extLst>
          </p:cNvPr>
          <p:cNvSpPr txBox="1"/>
          <p:nvPr/>
        </p:nvSpPr>
        <p:spPr>
          <a:xfrm>
            <a:off x="8577072" y="3568165"/>
            <a:ext cx="2481577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Improve centralised log analysis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2ECB2F-1D42-AB42-795E-265AFFD3D174}"/>
              </a:ext>
            </a:extLst>
          </p:cNvPr>
          <p:cNvSpPr txBox="1"/>
          <p:nvPr/>
        </p:nvSpPr>
        <p:spPr>
          <a:xfrm>
            <a:off x="8129794" y="4147865"/>
            <a:ext cx="364203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i="0">
                <a:solidFill>
                  <a:srgbClr val="4BCAFF"/>
                </a:solidFill>
                <a:latin typeface="Aptos"/>
              </a:rPr>
              <a:t>04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F9967DD-942E-A220-CB32-31D3CB4DCC88}"/>
              </a:ext>
            </a:extLst>
          </p:cNvPr>
          <p:cNvSpPr txBox="1"/>
          <p:nvPr/>
        </p:nvSpPr>
        <p:spPr>
          <a:xfrm>
            <a:off x="8577072" y="4135094"/>
            <a:ext cx="2755691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Conduct authorised security testing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1EC703F-D387-1BA9-8D47-BACBF6DEA68C}"/>
              </a:ext>
            </a:extLst>
          </p:cNvPr>
          <p:cNvSpPr txBox="1"/>
          <p:nvPr/>
        </p:nvSpPr>
        <p:spPr>
          <a:xfrm>
            <a:off x="8129794" y="4714794"/>
            <a:ext cx="364203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i="0">
                <a:solidFill>
                  <a:srgbClr val="4BCAFF"/>
                </a:solidFill>
                <a:latin typeface="Aptos"/>
              </a:rPr>
              <a:t>05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44E6AE-1DA7-ADF6-5EF0-406A17B72695}"/>
              </a:ext>
            </a:extLst>
          </p:cNvPr>
          <p:cNvSpPr txBox="1"/>
          <p:nvPr/>
        </p:nvSpPr>
        <p:spPr>
          <a:xfrm>
            <a:off x="8577072" y="4702022"/>
            <a:ext cx="2738250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300" b="0" i="0">
                <a:solidFill>
                  <a:srgbClr val="F5F8FC"/>
                </a:solidFill>
                <a:latin typeface="Aptos"/>
              </a:rPr>
              <a:t>Retain and deepen existing controls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170923E-B792-FEB1-ADAA-94AD92EC5CA9}"/>
              </a:ext>
            </a:extLst>
          </p:cNvPr>
          <p:cNvSpPr/>
          <p:nvPr/>
        </p:nvSpPr>
        <p:spPr>
          <a:xfrm>
            <a:off x="384048" y="139103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96A6E8-EFEB-D65C-2E66-60A749CEC078}"/>
              </a:ext>
            </a:extLst>
          </p:cNvPr>
          <p:cNvSpPr txBox="1"/>
          <p:nvPr/>
        </p:nvSpPr>
        <p:spPr>
          <a:xfrm>
            <a:off x="282448" y="936949"/>
            <a:ext cx="399981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b="1" i="0" dirty="0">
                <a:solidFill>
                  <a:srgbClr val="FFFF00"/>
                </a:solidFill>
                <a:latin typeface="+mj-lt"/>
              </a:rPr>
              <a:t>F-06 — CYBERSECURITY SKILLS GAP</a:t>
            </a:r>
          </a:p>
        </p:txBody>
      </p:sp>
    </p:spTree>
    <p:extLst>
      <p:ext uri="{BB962C8B-B14F-4D97-AF65-F5344CB8AC3E}">
        <p14:creationId xmlns:p14="http://schemas.microsoft.com/office/powerpoint/2010/main" val="137810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H="1">
            <a:off x="11872070" y="6495068"/>
            <a:ext cx="109398" cy="223559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8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CRITICAL RISK DEEP-DIVE #2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E23E37A-CDA0-1C85-B0F4-3560A85D3D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8AEC45AF-157F-0FEA-DE42-6FA552F84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A170923E-B792-FEB1-ADAA-94AD92EC5CA9}"/>
              </a:ext>
            </a:extLst>
          </p:cNvPr>
          <p:cNvSpPr/>
          <p:nvPr/>
        </p:nvSpPr>
        <p:spPr>
          <a:xfrm>
            <a:off x="384048" y="139103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96A6E8-EFEB-D65C-2E66-60A749CEC078}"/>
              </a:ext>
            </a:extLst>
          </p:cNvPr>
          <p:cNvSpPr txBox="1"/>
          <p:nvPr/>
        </p:nvSpPr>
        <p:spPr>
          <a:xfrm>
            <a:off x="282448" y="936949"/>
            <a:ext cx="734688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US" b="1" i="0" dirty="0">
                <a:solidFill>
                  <a:srgbClr val="FFFF00"/>
                </a:solidFill>
                <a:latin typeface="+mj-lt"/>
              </a:rPr>
              <a:t>HUMAN + PHYSICAL + EXTERNALLY VISIBLE DIGITAL INFORMATION</a:t>
            </a: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A7C5912C-79F1-9B8B-34B6-1BC71F7AD475}"/>
              </a:ext>
            </a:extLst>
          </p:cNvPr>
          <p:cNvSpPr/>
          <p:nvPr/>
        </p:nvSpPr>
        <p:spPr>
          <a:xfrm>
            <a:off x="320040" y="1572768"/>
            <a:ext cx="1965960" cy="1417320"/>
          </a:xfrm>
          <a:prstGeom prst="roundRect">
            <a:avLst/>
          </a:prstGeom>
          <a:solidFill>
            <a:srgbClr val="081F3D"/>
          </a:solidFill>
          <a:ln>
            <a:solidFill>
              <a:srgbClr val="4B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818A85-433C-DEAE-BA97-B374DA6FC1B9}"/>
              </a:ext>
            </a:extLst>
          </p:cNvPr>
          <p:cNvSpPr txBox="1"/>
          <p:nvPr/>
        </p:nvSpPr>
        <p:spPr>
          <a:xfrm>
            <a:off x="464662" y="1769474"/>
            <a:ext cx="1667572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4BCAFF"/>
                </a:solidFill>
                <a:latin typeface="Aptos"/>
              </a:rPr>
              <a:t>PUBLIC FOOTPRINT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45AE05-A82C-5097-BA44-E0D41FB0F016}"/>
              </a:ext>
            </a:extLst>
          </p:cNvPr>
          <p:cNvSpPr txBox="1"/>
          <p:nvPr/>
        </p:nvSpPr>
        <p:spPr>
          <a:xfrm>
            <a:off x="198147" y="2245519"/>
            <a:ext cx="2200602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i="0">
                <a:solidFill>
                  <a:srgbClr val="F5F8FC"/>
                </a:solidFill>
                <a:latin typeface="Aptos"/>
              </a:rPr>
              <a:t>Institutional details
and authentication surfaces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5EE7AF-BCBE-BA00-80E4-C1ACC571F804}"/>
              </a:ext>
            </a:extLst>
          </p:cNvPr>
          <p:cNvSpPr txBox="1"/>
          <p:nvPr/>
        </p:nvSpPr>
        <p:spPr>
          <a:xfrm>
            <a:off x="2331426" y="2048366"/>
            <a:ext cx="284052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9">
            <a:extLst>
              <a:ext uri="{FF2B5EF4-FFF2-40B4-BE49-F238E27FC236}">
                <a16:creationId xmlns:a16="http://schemas.microsoft.com/office/drawing/2014/main" id="{8815E6BA-20C2-E303-7EC5-BE26D783BC4C}"/>
              </a:ext>
            </a:extLst>
          </p:cNvPr>
          <p:cNvSpPr/>
          <p:nvPr/>
        </p:nvSpPr>
        <p:spPr>
          <a:xfrm>
            <a:off x="2679192" y="1572768"/>
            <a:ext cx="1965960" cy="1417320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C126FB-5C97-C7CC-93FF-D7430140F2C3}"/>
              </a:ext>
            </a:extLst>
          </p:cNvPr>
          <p:cNvSpPr txBox="1"/>
          <p:nvPr/>
        </p:nvSpPr>
        <p:spPr>
          <a:xfrm>
            <a:off x="2831797" y="1769474"/>
            <a:ext cx="1651606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1FA8EE"/>
                </a:solidFill>
                <a:latin typeface="Aptos"/>
              </a:rPr>
              <a:t>RECONNAISSANCE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973547-1648-3EE9-043D-8EC4F3C38227}"/>
              </a:ext>
            </a:extLst>
          </p:cNvPr>
          <p:cNvSpPr txBox="1"/>
          <p:nvPr/>
        </p:nvSpPr>
        <p:spPr>
          <a:xfrm>
            <a:off x="2756520" y="2245519"/>
            <a:ext cx="1802161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i="0">
                <a:solidFill>
                  <a:srgbClr val="F5F8FC"/>
                </a:solidFill>
                <a:latin typeface="Aptos"/>
              </a:rPr>
              <a:t>People • systems •
operating environment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0DA88E0-8FB7-1F2E-B165-C1C0609AA979}"/>
              </a:ext>
            </a:extLst>
          </p:cNvPr>
          <p:cNvSpPr txBox="1"/>
          <p:nvPr/>
        </p:nvSpPr>
        <p:spPr>
          <a:xfrm>
            <a:off x="4690578" y="2048366"/>
            <a:ext cx="284052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41" name="Rounded Rectangle 13">
            <a:extLst>
              <a:ext uri="{FF2B5EF4-FFF2-40B4-BE49-F238E27FC236}">
                <a16:creationId xmlns:a16="http://schemas.microsoft.com/office/drawing/2014/main" id="{0D3B15D2-A1D7-FC05-DBB2-3CA674710A08}"/>
              </a:ext>
            </a:extLst>
          </p:cNvPr>
          <p:cNvSpPr/>
          <p:nvPr/>
        </p:nvSpPr>
        <p:spPr>
          <a:xfrm>
            <a:off x="5038344" y="1572768"/>
            <a:ext cx="1965960" cy="1417320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F1B9D4-F6E3-2C00-BFE3-F6E4FBFE7DB9}"/>
              </a:ext>
            </a:extLst>
          </p:cNvPr>
          <p:cNvSpPr txBox="1"/>
          <p:nvPr/>
        </p:nvSpPr>
        <p:spPr>
          <a:xfrm>
            <a:off x="5071622" y="1769474"/>
            <a:ext cx="1890261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F4B73A"/>
                </a:solidFill>
                <a:latin typeface="Aptos"/>
              </a:rPr>
              <a:t>SOCIAL ENGINEERING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0F9269-77A3-F25B-42FE-536EE0626481}"/>
              </a:ext>
            </a:extLst>
          </p:cNvPr>
          <p:cNvSpPr txBox="1"/>
          <p:nvPr/>
        </p:nvSpPr>
        <p:spPr>
          <a:xfrm>
            <a:off x="4986630" y="2245519"/>
            <a:ext cx="2060244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i="0">
                <a:solidFill>
                  <a:srgbClr val="F5F8FC"/>
                </a:solidFill>
                <a:latin typeface="Aptos"/>
              </a:rPr>
              <a:t>Targeted phishing,
impersonation, harvesting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BFFDB0-A428-044A-DF17-D141F0FA8E07}"/>
              </a:ext>
            </a:extLst>
          </p:cNvPr>
          <p:cNvSpPr txBox="1"/>
          <p:nvPr/>
        </p:nvSpPr>
        <p:spPr>
          <a:xfrm>
            <a:off x="7049730" y="2048366"/>
            <a:ext cx="284052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77" name="Rounded Rectangle 17">
            <a:extLst>
              <a:ext uri="{FF2B5EF4-FFF2-40B4-BE49-F238E27FC236}">
                <a16:creationId xmlns:a16="http://schemas.microsoft.com/office/drawing/2014/main" id="{721074BA-0EAB-4C9D-2F02-14D16752FEC9}"/>
              </a:ext>
            </a:extLst>
          </p:cNvPr>
          <p:cNvSpPr/>
          <p:nvPr/>
        </p:nvSpPr>
        <p:spPr>
          <a:xfrm>
            <a:off x="7397496" y="1572768"/>
            <a:ext cx="1965960" cy="1417320"/>
          </a:xfrm>
          <a:prstGeom prst="roundRect">
            <a:avLst/>
          </a:prstGeom>
          <a:solidFill>
            <a:srgbClr val="081F3D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34DC44B-106C-BD80-B1FF-2D7A6A157CCA}"/>
              </a:ext>
            </a:extLst>
          </p:cNvPr>
          <p:cNvSpPr txBox="1"/>
          <p:nvPr/>
        </p:nvSpPr>
        <p:spPr>
          <a:xfrm>
            <a:off x="7599088" y="1769474"/>
            <a:ext cx="1553630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E05858"/>
                </a:solidFill>
                <a:latin typeface="Aptos"/>
              </a:rPr>
              <a:t>CREDENTIAL RISK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7491746-9F07-FA02-D9C8-746E0F6D19C9}"/>
              </a:ext>
            </a:extLst>
          </p:cNvPr>
          <p:cNvSpPr txBox="1"/>
          <p:nvPr/>
        </p:nvSpPr>
        <p:spPr>
          <a:xfrm>
            <a:off x="7379829" y="2245519"/>
            <a:ext cx="1992148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i="0">
                <a:solidFill>
                  <a:srgbClr val="F5F8FC"/>
                </a:solidFill>
                <a:latin typeface="Aptos"/>
              </a:rPr>
              <a:t>Compromise opportunity
depending on controls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8265934-4686-51DD-82E1-0A46F0411309}"/>
              </a:ext>
            </a:extLst>
          </p:cNvPr>
          <p:cNvSpPr txBox="1"/>
          <p:nvPr/>
        </p:nvSpPr>
        <p:spPr>
          <a:xfrm>
            <a:off x="9408882" y="2048366"/>
            <a:ext cx="284052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81" name="Rounded Rectangle 21">
            <a:extLst>
              <a:ext uri="{FF2B5EF4-FFF2-40B4-BE49-F238E27FC236}">
                <a16:creationId xmlns:a16="http://schemas.microsoft.com/office/drawing/2014/main" id="{F6015C0C-497D-EE0E-B356-87F043C85691}"/>
              </a:ext>
            </a:extLst>
          </p:cNvPr>
          <p:cNvSpPr/>
          <p:nvPr/>
        </p:nvSpPr>
        <p:spPr>
          <a:xfrm>
            <a:off x="9756648" y="1572768"/>
            <a:ext cx="1965960" cy="141732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55FE990-0320-75EB-02C1-571FD89A6F83}"/>
              </a:ext>
            </a:extLst>
          </p:cNvPr>
          <p:cNvSpPr txBox="1"/>
          <p:nvPr/>
        </p:nvSpPr>
        <p:spPr>
          <a:xfrm>
            <a:off x="9868472" y="1769474"/>
            <a:ext cx="1733167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1" i="0">
                <a:solidFill>
                  <a:srgbClr val="48C269"/>
                </a:solidFill>
                <a:latin typeface="Aptos"/>
              </a:rPr>
              <a:t>MISSION EXPOSURE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304DEDB-CDAF-4C62-7BFD-7490BC55B65C}"/>
              </a:ext>
            </a:extLst>
          </p:cNvPr>
          <p:cNvSpPr txBox="1"/>
          <p:nvPr/>
        </p:nvSpPr>
        <p:spPr>
          <a:xfrm>
            <a:off x="9823781" y="2245519"/>
            <a:ext cx="1822550" cy="4924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50" b="0" i="0">
                <a:solidFill>
                  <a:srgbClr val="F5F8FC"/>
                </a:solidFill>
                <a:latin typeface="Aptos"/>
              </a:rPr>
              <a:t>Information, continuity
and confidence</a:t>
            </a:r>
          </a:p>
        </p:txBody>
      </p:sp>
      <p:sp>
        <p:nvSpPr>
          <p:cNvPr id="84" name="Rounded Rectangle 24">
            <a:extLst>
              <a:ext uri="{FF2B5EF4-FFF2-40B4-BE49-F238E27FC236}">
                <a16:creationId xmlns:a16="http://schemas.microsoft.com/office/drawing/2014/main" id="{CDE6E6C1-25F4-7211-1FCB-E7E48FC807C9}"/>
              </a:ext>
            </a:extLst>
          </p:cNvPr>
          <p:cNvSpPr/>
          <p:nvPr/>
        </p:nvSpPr>
        <p:spPr>
          <a:xfrm>
            <a:off x="685800" y="3429000"/>
            <a:ext cx="10835640" cy="1417320"/>
          </a:xfrm>
          <a:prstGeom prst="roundRect">
            <a:avLst/>
          </a:prstGeom>
          <a:solidFill>
            <a:srgbClr val="062D2D"/>
          </a:solidFill>
          <a:ln>
            <a:solidFill>
              <a:srgbClr val="307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FCD8B2-FA12-46E7-ABF5-3A03981306EA}"/>
              </a:ext>
            </a:extLst>
          </p:cNvPr>
          <p:cNvSpPr txBox="1"/>
          <p:nvPr/>
        </p:nvSpPr>
        <p:spPr>
          <a:xfrm>
            <a:off x="784490" y="3578551"/>
            <a:ext cx="23968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 dirty="0">
                <a:solidFill>
                  <a:srgbClr val="FFFF00"/>
                </a:solidFill>
                <a:latin typeface="Aptos"/>
              </a:rPr>
              <a:t>MITIGATING CONTROLS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E9E51A-C9A0-B44F-40ED-3B0EC76EC3B7}"/>
              </a:ext>
            </a:extLst>
          </p:cNvPr>
          <p:cNvSpPr txBox="1"/>
          <p:nvPr/>
        </p:nvSpPr>
        <p:spPr>
          <a:xfrm>
            <a:off x="3027369" y="3598274"/>
            <a:ext cx="7752700" cy="2923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 i="0" dirty="0">
                <a:solidFill>
                  <a:srgbClr val="F5F8FC"/>
                </a:solidFill>
                <a:latin typeface="Aptos"/>
              </a:rPr>
              <a:t>Mandatory awareness training  •  Monthly phishing simulations  •  MFA  •  Personal-device prohibition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FE51656-018E-3FF0-9AEC-9F6F7949EE85}"/>
              </a:ext>
            </a:extLst>
          </p:cNvPr>
          <p:cNvSpPr txBox="1"/>
          <p:nvPr/>
        </p:nvSpPr>
        <p:spPr>
          <a:xfrm>
            <a:off x="756209" y="3984264"/>
            <a:ext cx="728648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0" i="0" dirty="0">
                <a:solidFill>
                  <a:srgbClr val="FFFF00"/>
                </a:solidFill>
                <a:latin typeface="Aptos"/>
              </a:rPr>
              <a:t>Recommended</a:t>
            </a:r>
            <a:r>
              <a:rPr sz="1300" b="0" i="0" dirty="0">
                <a:solidFill>
                  <a:srgbClr val="AEC1D6"/>
                </a:solidFill>
                <a:latin typeface="Aptos"/>
              </a:rPr>
              <a:t>: continuous awareness, OSINT self-assessment and controlled security testing.</a:t>
            </a:r>
          </a:p>
        </p:txBody>
      </p:sp>
      <p:sp>
        <p:nvSpPr>
          <p:cNvPr id="88" name="Rounded Rectangle 28">
            <a:extLst>
              <a:ext uri="{FF2B5EF4-FFF2-40B4-BE49-F238E27FC236}">
                <a16:creationId xmlns:a16="http://schemas.microsoft.com/office/drawing/2014/main" id="{23C8482D-DE7C-5327-FF66-719ACE166755}"/>
              </a:ext>
            </a:extLst>
          </p:cNvPr>
          <p:cNvSpPr/>
          <p:nvPr/>
        </p:nvSpPr>
        <p:spPr>
          <a:xfrm>
            <a:off x="685800" y="5166360"/>
            <a:ext cx="10835640" cy="658368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5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F611869-30D4-0A02-49E7-1CD76A690CCC}"/>
              </a:ext>
            </a:extLst>
          </p:cNvPr>
          <p:cNvSpPr txBox="1"/>
          <p:nvPr/>
        </p:nvSpPr>
        <p:spPr>
          <a:xfrm>
            <a:off x="924894" y="5315674"/>
            <a:ext cx="10357452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 dirty="0">
                <a:solidFill>
                  <a:srgbClr val="FFFF00"/>
                </a:solidFill>
                <a:latin typeface="Aptos"/>
              </a:rPr>
              <a:t>Objective: reduce useful hostile reconnaissance while improving personnel resilience against targeted manipulation.</a:t>
            </a:r>
          </a:p>
        </p:txBody>
      </p:sp>
    </p:spTree>
    <p:extLst>
      <p:ext uri="{BB962C8B-B14F-4D97-AF65-F5344CB8AC3E}">
        <p14:creationId xmlns:p14="http://schemas.microsoft.com/office/powerpoint/2010/main" val="92859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8091" y="6391372"/>
            <a:ext cx="163979" cy="327255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9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REGULATORY COMPLIANCE &amp; LIABILITY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CF8C146-99E2-F8EE-2172-190B0B477E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F312BFA-520F-01FE-88C2-FC2412737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C38380A8-657B-9B9A-4840-B79E47CAB329}"/>
              </a:ext>
            </a:extLst>
          </p:cNvPr>
          <p:cNvSpPr/>
          <p:nvPr/>
        </p:nvSpPr>
        <p:spPr>
          <a:xfrm>
            <a:off x="381000" y="1760443"/>
            <a:ext cx="5440680" cy="1298448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330111-4C9E-F977-6088-87C59D491E50}"/>
              </a:ext>
            </a:extLst>
          </p:cNvPr>
          <p:cNvSpPr txBox="1"/>
          <p:nvPr/>
        </p:nvSpPr>
        <p:spPr>
          <a:xfrm>
            <a:off x="563880" y="1890019"/>
            <a:ext cx="121405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1FA8EE"/>
                </a:solidFill>
                <a:latin typeface="Aptos"/>
              </a:rPr>
              <a:t>NIST CSF 2.0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1477C-0440-C7B9-7307-53BF8F3EFE3E}"/>
              </a:ext>
            </a:extLst>
          </p:cNvPr>
          <p:cNvSpPr txBox="1"/>
          <p:nvPr/>
        </p:nvSpPr>
        <p:spPr>
          <a:xfrm>
            <a:off x="563880" y="2223775"/>
            <a:ext cx="165244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Risk management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34396D-B6D2-953D-D6F7-1CBF682978FE}"/>
              </a:ext>
            </a:extLst>
          </p:cNvPr>
          <p:cNvSpPr txBox="1"/>
          <p:nvPr/>
        </p:nvSpPr>
        <p:spPr>
          <a:xfrm>
            <a:off x="412688" y="2473782"/>
            <a:ext cx="464364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Govern • Identify • Protect • Detect • Respond • Recover</a:t>
            </a: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29A3B17F-F01E-E68F-5947-338265FB7428}"/>
              </a:ext>
            </a:extLst>
          </p:cNvPr>
          <p:cNvSpPr/>
          <p:nvPr/>
        </p:nvSpPr>
        <p:spPr>
          <a:xfrm>
            <a:off x="6160008" y="1760443"/>
            <a:ext cx="5440680" cy="1298448"/>
          </a:xfrm>
          <a:prstGeom prst="roundRect">
            <a:avLst/>
          </a:prstGeom>
          <a:solidFill>
            <a:srgbClr val="081F3D"/>
          </a:solidFill>
          <a:ln>
            <a:solidFill>
              <a:srgbClr val="4B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054269-8B05-4E92-2217-C42564533E9B}"/>
              </a:ext>
            </a:extLst>
          </p:cNvPr>
          <p:cNvSpPr txBox="1"/>
          <p:nvPr/>
        </p:nvSpPr>
        <p:spPr>
          <a:xfrm>
            <a:off x="6342888" y="1890019"/>
            <a:ext cx="178215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4BCAFF"/>
                </a:solidFill>
                <a:latin typeface="Aptos"/>
              </a:rPr>
              <a:t>ISO/IEC 27001:2022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609274-2873-4678-31A5-34B192095E9B}"/>
              </a:ext>
            </a:extLst>
          </p:cNvPr>
          <p:cNvSpPr txBox="1"/>
          <p:nvPr/>
        </p:nvSpPr>
        <p:spPr>
          <a:xfrm>
            <a:off x="6342888" y="2223775"/>
            <a:ext cx="139147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ISMS 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88C9D6-62B4-0DB3-484F-EB050212058D}"/>
              </a:ext>
            </a:extLst>
          </p:cNvPr>
          <p:cNvSpPr txBox="1"/>
          <p:nvPr/>
        </p:nvSpPr>
        <p:spPr>
          <a:xfrm>
            <a:off x="6305180" y="2483145"/>
            <a:ext cx="458311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Information security management and control assurance</a:t>
            </a: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44CF34B8-E876-EC38-9636-0E7C634CE338}"/>
              </a:ext>
            </a:extLst>
          </p:cNvPr>
          <p:cNvSpPr/>
          <p:nvPr/>
        </p:nvSpPr>
        <p:spPr>
          <a:xfrm>
            <a:off x="381000" y="3360643"/>
            <a:ext cx="5440680" cy="1298448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46678E-C3F8-D572-D97C-81DAFC6C2045}"/>
              </a:ext>
            </a:extLst>
          </p:cNvPr>
          <p:cNvSpPr txBox="1"/>
          <p:nvPr/>
        </p:nvSpPr>
        <p:spPr>
          <a:xfrm>
            <a:off x="563880" y="3490219"/>
            <a:ext cx="165224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48C269"/>
                </a:solidFill>
                <a:latin typeface="Aptos"/>
              </a:rPr>
              <a:t>CIS CONTROLS v8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F556CE-E9E0-9DB7-9483-2BC73D4D2095}"/>
              </a:ext>
            </a:extLst>
          </p:cNvPr>
          <p:cNvSpPr txBox="1"/>
          <p:nvPr/>
        </p:nvSpPr>
        <p:spPr>
          <a:xfrm>
            <a:off x="563880" y="3823975"/>
            <a:ext cx="170290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Technical baseline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83CE86-3F67-CEB0-23CD-6B8E4B166386}"/>
              </a:ext>
            </a:extLst>
          </p:cNvPr>
          <p:cNvSpPr txBox="1"/>
          <p:nvPr/>
        </p:nvSpPr>
        <p:spPr>
          <a:xfrm>
            <a:off x="534517" y="4099748"/>
            <a:ext cx="395954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Operational safeguards and secure configuration</a:t>
            </a:r>
          </a:p>
        </p:txBody>
      </p:sp>
      <p:sp>
        <p:nvSpPr>
          <p:cNvPr id="25" name="Rounded Rectangle 17">
            <a:extLst>
              <a:ext uri="{FF2B5EF4-FFF2-40B4-BE49-F238E27FC236}">
                <a16:creationId xmlns:a16="http://schemas.microsoft.com/office/drawing/2014/main" id="{D995D492-1622-92F4-0C5B-80FB76332A4C}"/>
              </a:ext>
            </a:extLst>
          </p:cNvPr>
          <p:cNvSpPr/>
          <p:nvPr/>
        </p:nvSpPr>
        <p:spPr>
          <a:xfrm>
            <a:off x="6160008" y="3360643"/>
            <a:ext cx="5440680" cy="1298448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55DBFC-D882-8DF6-D91B-B79DDD1D6457}"/>
              </a:ext>
            </a:extLst>
          </p:cNvPr>
          <p:cNvSpPr txBox="1"/>
          <p:nvPr/>
        </p:nvSpPr>
        <p:spPr>
          <a:xfrm>
            <a:off x="6342888" y="3490219"/>
            <a:ext cx="107343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4B73A"/>
                </a:solidFill>
                <a:latin typeface="Aptos"/>
              </a:rPr>
              <a:t>NDPA 2023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895BA2-C8F8-921C-67EB-C8AB2F459949}"/>
              </a:ext>
            </a:extLst>
          </p:cNvPr>
          <p:cNvSpPr txBox="1"/>
          <p:nvPr/>
        </p:nvSpPr>
        <p:spPr>
          <a:xfrm>
            <a:off x="6342888" y="3823975"/>
            <a:ext cx="146052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Data protection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B892B8-EFD1-56E0-57A7-F0A7DF6B0F3B}"/>
              </a:ext>
            </a:extLst>
          </p:cNvPr>
          <p:cNvSpPr txBox="1"/>
          <p:nvPr/>
        </p:nvSpPr>
        <p:spPr>
          <a:xfrm>
            <a:off x="6305180" y="4064198"/>
            <a:ext cx="492000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Protection of personnel, student and institutional information</a:t>
            </a:r>
          </a:p>
        </p:txBody>
      </p:sp>
      <p:sp>
        <p:nvSpPr>
          <p:cNvPr id="29" name="Rounded Rectangle 21">
            <a:extLst>
              <a:ext uri="{FF2B5EF4-FFF2-40B4-BE49-F238E27FC236}">
                <a16:creationId xmlns:a16="http://schemas.microsoft.com/office/drawing/2014/main" id="{70708769-14A9-C9AE-EE01-26CD53306396}"/>
              </a:ext>
            </a:extLst>
          </p:cNvPr>
          <p:cNvSpPr/>
          <p:nvPr/>
        </p:nvSpPr>
        <p:spPr>
          <a:xfrm>
            <a:off x="598763" y="5149378"/>
            <a:ext cx="10881360" cy="1051560"/>
          </a:xfrm>
          <a:prstGeom prst="roundRect">
            <a:avLst/>
          </a:prstGeom>
          <a:solidFill>
            <a:srgbClr val="062D2D"/>
          </a:solidFill>
          <a:ln>
            <a:solidFill>
              <a:srgbClr val="307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8C917C-66B8-2CAC-2963-C907C99B538C}"/>
              </a:ext>
            </a:extLst>
          </p:cNvPr>
          <p:cNvSpPr txBox="1"/>
          <p:nvPr/>
        </p:nvSpPr>
        <p:spPr>
          <a:xfrm>
            <a:off x="827888" y="5264762"/>
            <a:ext cx="242624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 dirty="0">
                <a:solidFill>
                  <a:srgbClr val="FFFF00"/>
                </a:solidFill>
                <a:latin typeface="Aptos"/>
              </a:rPr>
              <a:t>ASSURANCE PRINCIPLE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38C818-4AB5-1F2D-397F-66189D602B16}"/>
              </a:ext>
            </a:extLst>
          </p:cNvPr>
          <p:cNvSpPr txBox="1"/>
          <p:nvPr/>
        </p:nvSpPr>
        <p:spPr>
          <a:xfrm>
            <a:off x="827888" y="5609460"/>
            <a:ext cx="10340736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 i="0" dirty="0">
                <a:solidFill>
                  <a:srgbClr val="F5F8FC"/>
                </a:solidFill>
                <a:latin typeface="Aptos"/>
              </a:rPr>
              <a:t>Framework alignment is not a one-time achievement. Controls must remain effective as threats, technology and operational requirements change.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1E9B966-9092-33F1-E61A-9232CF3CEFFE}"/>
              </a:ext>
            </a:extLst>
          </p:cNvPr>
          <p:cNvSpPr/>
          <p:nvPr/>
        </p:nvSpPr>
        <p:spPr>
          <a:xfrm>
            <a:off x="384048" y="139103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668C06-6FB1-6823-77D1-3BEECD92B78A}"/>
              </a:ext>
            </a:extLst>
          </p:cNvPr>
          <p:cNvSpPr/>
          <p:nvPr/>
        </p:nvSpPr>
        <p:spPr>
          <a:xfrm>
            <a:off x="384048" y="139103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F003D8-A274-32B1-4DDC-34938C389926}"/>
              </a:ext>
            </a:extLst>
          </p:cNvPr>
          <p:cNvSpPr txBox="1"/>
          <p:nvPr/>
        </p:nvSpPr>
        <p:spPr>
          <a:xfrm>
            <a:off x="262990" y="982662"/>
            <a:ext cx="780575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800" b="1" i="0" dirty="0">
                <a:solidFill>
                  <a:srgbClr val="FFFF00"/>
                </a:solidFill>
                <a:latin typeface="+mj-lt"/>
              </a:rPr>
              <a:t>DIC REPORTS ALIGNMENT WITH FOUR RECOGNISED FRAMEWORKS</a:t>
            </a:r>
            <a:endParaRPr lang="en-US" b="1" i="0" dirty="0">
              <a:solidFill>
                <a:srgbClr val="FFF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634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4140" y="6363262"/>
            <a:ext cx="427930" cy="415204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10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THREE YEAR STRATEGIC ROADMAP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004C12-089F-0600-DE45-DEC980CCB9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FC5AAA-C878-16BF-8FED-63856B9B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A8C002BE-B1F2-1A55-400D-F7AB48FD8DF2}"/>
              </a:ext>
            </a:extLst>
          </p:cNvPr>
          <p:cNvSpPr/>
          <p:nvPr/>
        </p:nvSpPr>
        <p:spPr>
          <a:xfrm>
            <a:off x="449580" y="1660460"/>
            <a:ext cx="3383280" cy="3886200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1460FA-CFD5-1F4C-782A-68AC5C02C669}"/>
              </a:ext>
            </a:extLst>
          </p:cNvPr>
          <p:cNvSpPr txBox="1"/>
          <p:nvPr/>
        </p:nvSpPr>
        <p:spPr>
          <a:xfrm>
            <a:off x="1681235" y="1859842"/>
            <a:ext cx="91082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1FA8EE"/>
                </a:solidFill>
                <a:latin typeface="Aptos"/>
              </a:rPr>
              <a:t>YEAR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52D31A-198A-37E8-C852-2426D4B0C1BF}"/>
              </a:ext>
            </a:extLst>
          </p:cNvPr>
          <p:cNvSpPr txBox="1"/>
          <p:nvPr/>
        </p:nvSpPr>
        <p:spPr>
          <a:xfrm>
            <a:off x="1258747" y="2272101"/>
            <a:ext cx="1755802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F5F8FC"/>
                </a:solidFill>
                <a:latin typeface="Aptos"/>
              </a:rPr>
              <a:t>TACTICAL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A50073-9FC1-5236-B8D5-F14A1EDB32E8}"/>
              </a:ext>
            </a:extLst>
          </p:cNvPr>
          <p:cNvSpPr txBox="1"/>
          <p:nvPr/>
        </p:nvSpPr>
        <p:spPr>
          <a:xfrm>
            <a:off x="1034423" y="2683582"/>
            <a:ext cx="2204451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AEC1D6"/>
                </a:solidFill>
                <a:latin typeface="Aptos"/>
              </a:rPr>
              <a:t>Reduce Risk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E02BEA-80FD-6C9C-7085-993E9B4ADB79}"/>
              </a:ext>
            </a:extLst>
          </p:cNvPr>
          <p:cNvSpPr txBox="1"/>
          <p:nvPr/>
        </p:nvSpPr>
        <p:spPr>
          <a:xfrm>
            <a:off x="762914" y="3327454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1FA8EE"/>
                </a:solidFill>
                <a:latin typeface="Aptos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364AA-7072-9A99-6BBD-A4D203A334EF}"/>
              </a:ext>
            </a:extLst>
          </p:cNvPr>
          <p:cNvSpPr txBox="1"/>
          <p:nvPr/>
        </p:nvSpPr>
        <p:spPr>
          <a:xfrm>
            <a:off x="1107948" y="3354886"/>
            <a:ext cx="160819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Risk reduction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ED5F77-2604-D1A8-FA47-D6397BB9C62B}"/>
              </a:ext>
            </a:extLst>
          </p:cNvPr>
          <p:cNvSpPr txBox="1"/>
          <p:nvPr/>
        </p:nvSpPr>
        <p:spPr>
          <a:xfrm>
            <a:off x="762914" y="3894382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1FA8EE"/>
                </a:solidFill>
                <a:latin typeface="Aptos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E0A210-7FDB-A36D-366B-DEF00E815AC1}"/>
              </a:ext>
            </a:extLst>
          </p:cNvPr>
          <p:cNvSpPr txBox="1"/>
          <p:nvPr/>
        </p:nvSpPr>
        <p:spPr>
          <a:xfrm>
            <a:off x="1107948" y="3921814"/>
            <a:ext cx="2040943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Capability building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EE66B2-EDCE-8B41-1E8B-BFDB0F722765}"/>
              </a:ext>
            </a:extLst>
          </p:cNvPr>
          <p:cNvSpPr txBox="1"/>
          <p:nvPr/>
        </p:nvSpPr>
        <p:spPr>
          <a:xfrm>
            <a:off x="762914" y="4461310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1FA8EE"/>
                </a:solidFill>
                <a:latin typeface="Aptos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AAD797-E5AD-8CD4-D756-2C91C2772160}"/>
              </a:ext>
            </a:extLst>
          </p:cNvPr>
          <p:cNvSpPr txBox="1"/>
          <p:nvPr/>
        </p:nvSpPr>
        <p:spPr>
          <a:xfrm>
            <a:off x="1107948" y="4488742"/>
            <a:ext cx="251184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Immediate remediation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224DCD-9973-3D35-DDCA-FA0EC2FE4A8F}"/>
              </a:ext>
            </a:extLst>
          </p:cNvPr>
          <p:cNvSpPr txBox="1"/>
          <p:nvPr/>
        </p:nvSpPr>
        <p:spPr>
          <a:xfrm>
            <a:off x="3878580" y="298634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89F1A863-F9CE-4D56-52E7-20332ED83C2F}"/>
              </a:ext>
            </a:extLst>
          </p:cNvPr>
          <p:cNvSpPr/>
          <p:nvPr/>
        </p:nvSpPr>
        <p:spPr>
          <a:xfrm>
            <a:off x="4308348" y="1660460"/>
            <a:ext cx="3383280" cy="3886200"/>
          </a:xfrm>
          <a:prstGeom prst="roundRect">
            <a:avLst/>
          </a:prstGeom>
          <a:solidFill>
            <a:srgbClr val="081F3D"/>
          </a:solidFill>
          <a:ln>
            <a:solidFill>
              <a:srgbClr val="4B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E09D62-94F3-033B-E534-7533E667F19A}"/>
              </a:ext>
            </a:extLst>
          </p:cNvPr>
          <p:cNvSpPr txBox="1"/>
          <p:nvPr/>
        </p:nvSpPr>
        <p:spPr>
          <a:xfrm>
            <a:off x="5540003" y="1859842"/>
            <a:ext cx="91082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BCAFF"/>
                </a:solidFill>
                <a:latin typeface="Aptos"/>
              </a:rPr>
              <a:t>YEAR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8A6F34-51B6-4747-C0E0-562769F207C5}"/>
              </a:ext>
            </a:extLst>
          </p:cNvPr>
          <p:cNvSpPr txBox="1"/>
          <p:nvPr/>
        </p:nvSpPr>
        <p:spPr>
          <a:xfrm>
            <a:off x="4991839" y="2272101"/>
            <a:ext cx="2007153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F5F8FC"/>
                </a:solidFill>
                <a:latin typeface="Aptos"/>
              </a:rPr>
              <a:t>STRATEGIC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695A28-B0DE-8706-8D10-03E1A7FD53B9}"/>
              </a:ext>
            </a:extLst>
          </p:cNvPr>
          <p:cNvSpPr txBox="1"/>
          <p:nvPr/>
        </p:nvSpPr>
        <p:spPr>
          <a:xfrm>
            <a:off x="4762899" y="2683582"/>
            <a:ext cx="2465034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AEC1D6"/>
                </a:solidFill>
                <a:latin typeface="Aptos"/>
              </a:rPr>
              <a:t>Build Maturity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519286-6151-71CC-C04C-D0BD85DEF6DF}"/>
              </a:ext>
            </a:extLst>
          </p:cNvPr>
          <p:cNvSpPr txBox="1"/>
          <p:nvPr/>
        </p:nvSpPr>
        <p:spPr>
          <a:xfrm>
            <a:off x="4621682" y="3327454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BCAFF"/>
                </a:solidFill>
                <a:latin typeface="Aptos"/>
              </a:rPr>
              <a:t>•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989826-B5F5-F4C4-8749-6D4D0DAFDC18}"/>
              </a:ext>
            </a:extLst>
          </p:cNvPr>
          <p:cNvSpPr txBox="1"/>
          <p:nvPr/>
        </p:nvSpPr>
        <p:spPr>
          <a:xfrm>
            <a:off x="4966716" y="3354886"/>
            <a:ext cx="242508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Infrastructure maturity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8B6DF6-C0C9-5BB3-75A5-6B8C3748F8F0}"/>
              </a:ext>
            </a:extLst>
          </p:cNvPr>
          <p:cNvSpPr txBox="1"/>
          <p:nvPr/>
        </p:nvSpPr>
        <p:spPr>
          <a:xfrm>
            <a:off x="4621682" y="3894382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BCAFF"/>
                </a:solidFill>
                <a:latin typeface="Aptos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1EAD4F-E80D-0E3B-73AA-D27576C0E045}"/>
              </a:ext>
            </a:extLst>
          </p:cNvPr>
          <p:cNvSpPr txBox="1"/>
          <p:nvPr/>
        </p:nvSpPr>
        <p:spPr>
          <a:xfrm>
            <a:off x="4966716" y="3921814"/>
            <a:ext cx="246253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Centralised monitoring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76013D-8FCE-01A8-27F4-61CC2F386041}"/>
              </a:ext>
            </a:extLst>
          </p:cNvPr>
          <p:cNvSpPr txBox="1"/>
          <p:nvPr/>
        </p:nvSpPr>
        <p:spPr>
          <a:xfrm>
            <a:off x="4621682" y="4461310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BCAFF"/>
                </a:solidFill>
                <a:latin typeface="Aptos"/>
              </a:rPr>
              <a:t>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939615-84A7-612D-B83A-49613A0B4AB6}"/>
              </a:ext>
            </a:extLst>
          </p:cNvPr>
          <p:cNvSpPr txBox="1"/>
          <p:nvPr/>
        </p:nvSpPr>
        <p:spPr>
          <a:xfrm>
            <a:off x="4966716" y="4488742"/>
            <a:ext cx="234243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Process development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AB2BB3-8DFF-F71B-3C0F-682585644756}"/>
              </a:ext>
            </a:extLst>
          </p:cNvPr>
          <p:cNvSpPr txBox="1"/>
          <p:nvPr/>
        </p:nvSpPr>
        <p:spPr>
          <a:xfrm>
            <a:off x="7737348" y="298634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27">
            <a:extLst>
              <a:ext uri="{FF2B5EF4-FFF2-40B4-BE49-F238E27FC236}">
                <a16:creationId xmlns:a16="http://schemas.microsoft.com/office/drawing/2014/main" id="{069F5420-B9EE-59E3-F1F7-E0D3A2FECCEB}"/>
              </a:ext>
            </a:extLst>
          </p:cNvPr>
          <p:cNvSpPr/>
          <p:nvPr/>
        </p:nvSpPr>
        <p:spPr>
          <a:xfrm>
            <a:off x="8167115" y="1660460"/>
            <a:ext cx="3383280" cy="388620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B06C46-4F93-7875-3395-C64E75C216F6}"/>
              </a:ext>
            </a:extLst>
          </p:cNvPr>
          <p:cNvSpPr txBox="1"/>
          <p:nvPr/>
        </p:nvSpPr>
        <p:spPr>
          <a:xfrm>
            <a:off x="9398770" y="1859842"/>
            <a:ext cx="910826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8C269"/>
                </a:solidFill>
                <a:latin typeface="Aptos"/>
              </a:rPr>
              <a:t>YEAR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EBC9F8-606C-2C57-6BFE-A10B08510E75}"/>
              </a:ext>
            </a:extLst>
          </p:cNvPr>
          <p:cNvSpPr txBox="1"/>
          <p:nvPr/>
        </p:nvSpPr>
        <p:spPr>
          <a:xfrm>
            <a:off x="8563349" y="2272101"/>
            <a:ext cx="2581669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>
                <a:solidFill>
                  <a:srgbClr val="F5F8FC"/>
                </a:solidFill>
                <a:latin typeface="Aptos"/>
              </a:rPr>
              <a:t>OPTIMISATION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FFBFEF-682C-DB11-0B08-1575A030AFDD}"/>
              </a:ext>
            </a:extLst>
          </p:cNvPr>
          <p:cNvSpPr txBox="1"/>
          <p:nvPr/>
        </p:nvSpPr>
        <p:spPr>
          <a:xfrm>
            <a:off x="8137207" y="2683582"/>
            <a:ext cx="3433953" cy="5232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1" i="0" dirty="0">
                <a:solidFill>
                  <a:srgbClr val="AEC1D6"/>
                </a:solidFill>
                <a:latin typeface="Aptos"/>
              </a:rPr>
              <a:t>Optimise Capability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F2AFD0-ABA2-948F-1126-7D90F3D7D162}"/>
              </a:ext>
            </a:extLst>
          </p:cNvPr>
          <p:cNvSpPr txBox="1"/>
          <p:nvPr/>
        </p:nvSpPr>
        <p:spPr>
          <a:xfrm>
            <a:off x="8480450" y="3327454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8C269"/>
                </a:solidFill>
                <a:latin typeface="Aptos"/>
              </a:rPr>
              <a:t>•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83FDE0-DF88-C9E5-4EFC-2027356CCE80}"/>
              </a:ext>
            </a:extLst>
          </p:cNvPr>
          <p:cNvSpPr txBox="1"/>
          <p:nvPr/>
        </p:nvSpPr>
        <p:spPr>
          <a:xfrm>
            <a:off x="8825484" y="3354886"/>
            <a:ext cx="135165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Automation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318DAEC-86E5-BF6F-7E1D-8D6DB1E1F477}"/>
              </a:ext>
            </a:extLst>
          </p:cNvPr>
          <p:cNvSpPr txBox="1"/>
          <p:nvPr/>
        </p:nvSpPr>
        <p:spPr>
          <a:xfrm>
            <a:off x="8480450" y="3894382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8C269"/>
                </a:solidFill>
                <a:latin typeface="Aptos"/>
              </a:rPr>
              <a:t>•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829E21-C69F-E7F1-B62B-741BF60C9D84}"/>
              </a:ext>
            </a:extLst>
          </p:cNvPr>
          <p:cNvSpPr txBox="1"/>
          <p:nvPr/>
        </p:nvSpPr>
        <p:spPr>
          <a:xfrm>
            <a:off x="8825484" y="3921814"/>
            <a:ext cx="212513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Advanced analytics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BFA337-4914-97DF-A435-11FACDD4AECF}"/>
              </a:ext>
            </a:extLst>
          </p:cNvPr>
          <p:cNvSpPr txBox="1"/>
          <p:nvPr/>
        </p:nvSpPr>
        <p:spPr>
          <a:xfrm>
            <a:off x="8480450" y="4461310"/>
            <a:ext cx="29687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>
                <a:solidFill>
                  <a:srgbClr val="48C269"/>
                </a:solidFill>
                <a:latin typeface="Aptos"/>
              </a:rPr>
              <a:t>•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3956C1-29C7-90BB-5A44-F69F042460A6}"/>
              </a:ext>
            </a:extLst>
          </p:cNvPr>
          <p:cNvSpPr txBox="1"/>
          <p:nvPr/>
        </p:nvSpPr>
        <p:spPr>
          <a:xfrm>
            <a:off x="8825484" y="4488742"/>
            <a:ext cx="2273251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b="0" i="0">
                <a:solidFill>
                  <a:srgbClr val="F5F8FC"/>
                </a:solidFill>
                <a:latin typeface="Aptos"/>
              </a:rPr>
              <a:t>Governance maturity</a:t>
            </a:r>
          </a:p>
        </p:txBody>
      </p:sp>
      <p:sp>
        <p:nvSpPr>
          <p:cNvPr id="41" name="Rounded Rectangle 37">
            <a:extLst>
              <a:ext uri="{FF2B5EF4-FFF2-40B4-BE49-F238E27FC236}">
                <a16:creationId xmlns:a16="http://schemas.microsoft.com/office/drawing/2014/main" id="{C658F1F5-BBDB-F5D4-ABAF-66ED5497A22F}"/>
              </a:ext>
            </a:extLst>
          </p:cNvPr>
          <p:cNvSpPr/>
          <p:nvPr/>
        </p:nvSpPr>
        <p:spPr>
          <a:xfrm>
            <a:off x="262989" y="5866700"/>
            <a:ext cx="11702983" cy="475488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663573-EF0E-B505-4EDB-F550987A189A}"/>
              </a:ext>
            </a:extLst>
          </p:cNvPr>
          <p:cNvSpPr txBox="1"/>
          <p:nvPr/>
        </p:nvSpPr>
        <p:spPr>
          <a:xfrm>
            <a:off x="226028" y="5887774"/>
            <a:ext cx="11739945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 dirty="0">
                <a:solidFill>
                  <a:srgbClr val="FFFF00"/>
                </a:solidFill>
                <a:latin typeface="Aptos"/>
              </a:rPr>
              <a:t>END STATE  |  Trained personnel + stronger monitoring + improved processes + automation + mature governance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AC156F-AC43-66C1-5263-A7B6927A4E4F}"/>
              </a:ext>
            </a:extLst>
          </p:cNvPr>
          <p:cNvSpPr/>
          <p:nvPr/>
        </p:nvSpPr>
        <p:spPr>
          <a:xfrm>
            <a:off x="384048" y="139103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9F947C-15DF-6DB5-CCDE-92BD84641EB8}"/>
              </a:ext>
            </a:extLst>
          </p:cNvPr>
          <p:cNvSpPr txBox="1"/>
          <p:nvPr/>
        </p:nvSpPr>
        <p:spPr>
          <a:xfrm>
            <a:off x="262989" y="982662"/>
            <a:ext cx="942776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800" b="1" i="0" dirty="0">
                <a:solidFill>
                  <a:srgbClr val="FFFF00"/>
                </a:solidFill>
                <a:latin typeface="+mj-lt"/>
              </a:rPr>
              <a:t>Progression from immediate risk reduction to mature, automated security capability</a:t>
            </a:r>
          </a:p>
        </p:txBody>
      </p:sp>
    </p:spTree>
    <p:extLst>
      <p:ext uri="{BB962C8B-B14F-4D97-AF65-F5344CB8AC3E}">
        <p14:creationId xmlns:p14="http://schemas.microsoft.com/office/powerpoint/2010/main" val="44195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30B8AB8-D9C8-4639-88C4-41EDE0636C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YEAR 1 INITIATIVES (TACTICAL)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ED76F5-C14A-44C5-EBB6-A97769B5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A03A14D-4A61-A944-701D-DF01048AB4E0}"/>
              </a:ext>
            </a:extLst>
          </p:cNvPr>
          <p:cNvSpPr/>
          <p:nvPr/>
        </p:nvSpPr>
        <p:spPr>
          <a:xfrm>
            <a:off x="384048" y="1778367"/>
            <a:ext cx="3520440" cy="1783080"/>
          </a:xfrm>
          <a:prstGeom prst="roundRect">
            <a:avLst/>
          </a:prstGeom>
          <a:solidFill>
            <a:srgbClr val="081F3D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ED4740-2499-6DA2-D432-DA7F2BCF2DE9}"/>
              </a:ext>
            </a:extLst>
          </p:cNvPr>
          <p:cNvSpPr txBox="1"/>
          <p:nvPr/>
        </p:nvSpPr>
        <p:spPr>
          <a:xfrm>
            <a:off x="530351" y="1902264"/>
            <a:ext cx="42062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E05858"/>
                </a:solidFill>
                <a:latin typeface="Aptos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4CBBCF-2A36-8766-5F44-97707BCFDA6A}"/>
              </a:ext>
            </a:extLst>
          </p:cNvPr>
          <p:cNvSpPr txBox="1"/>
          <p:nvPr/>
        </p:nvSpPr>
        <p:spPr>
          <a:xfrm>
            <a:off x="950976" y="1901696"/>
            <a:ext cx="225413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 dirty="0">
                <a:solidFill>
                  <a:srgbClr val="F5F8FC"/>
                </a:solidFill>
                <a:latin typeface="Aptos"/>
              </a:rPr>
              <a:t>CYBER WORKFORCE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D276F-67C1-9478-3E20-733CAD347D2C}"/>
              </a:ext>
            </a:extLst>
          </p:cNvPr>
          <p:cNvSpPr txBox="1"/>
          <p:nvPr/>
        </p:nvSpPr>
        <p:spPr>
          <a:xfrm>
            <a:off x="548640" y="2377019"/>
            <a:ext cx="314666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AEC1D6"/>
                </a:solidFill>
                <a:latin typeface="Aptos"/>
              </a:rPr>
              <a:t>Upskill, recruit and retain specialist cyber capability.</a:t>
            </a:r>
          </a:p>
        </p:txBody>
      </p:sp>
      <p:sp>
        <p:nvSpPr>
          <p:cNvPr id="23" name="Rounded Rectangle 9">
            <a:extLst>
              <a:ext uri="{FF2B5EF4-FFF2-40B4-BE49-F238E27FC236}">
                <a16:creationId xmlns:a16="http://schemas.microsoft.com/office/drawing/2014/main" id="{47EE3442-955A-E486-05C0-5FCCB153DB14}"/>
              </a:ext>
            </a:extLst>
          </p:cNvPr>
          <p:cNvSpPr/>
          <p:nvPr/>
        </p:nvSpPr>
        <p:spPr>
          <a:xfrm>
            <a:off x="548640" y="3085959"/>
            <a:ext cx="914400" cy="274320"/>
          </a:xfrm>
          <a:prstGeom prst="roundRect">
            <a:avLst/>
          </a:prstGeom>
          <a:solidFill>
            <a:srgbClr val="E05858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14E077-F6F8-C29E-0690-8B2CB595BF3F}"/>
              </a:ext>
            </a:extLst>
          </p:cNvPr>
          <p:cNvSpPr txBox="1"/>
          <p:nvPr/>
        </p:nvSpPr>
        <p:spPr>
          <a:xfrm>
            <a:off x="691491" y="3069231"/>
            <a:ext cx="62869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5142B"/>
                </a:solidFill>
                <a:latin typeface="Aptos"/>
              </a:rPr>
              <a:t>HIGH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462F948F-2AC3-8691-DE40-32B871BEB7F9}"/>
              </a:ext>
            </a:extLst>
          </p:cNvPr>
          <p:cNvSpPr/>
          <p:nvPr/>
        </p:nvSpPr>
        <p:spPr>
          <a:xfrm>
            <a:off x="4206240" y="1778367"/>
            <a:ext cx="3520440" cy="1783080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95846B-A6DA-100E-DC96-11CCA1A2319E}"/>
              </a:ext>
            </a:extLst>
          </p:cNvPr>
          <p:cNvSpPr txBox="1"/>
          <p:nvPr/>
        </p:nvSpPr>
        <p:spPr>
          <a:xfrm>
            <a:off x="4352543" y="1902264"/>
            <a:ext cx="42062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4B73A"/>
                </a:solidFill>
                <a:latin typeface="Aptos"/>
              </a:rPr>
              <a:t>02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E84EB0-B0AE-2045-4447-CC18308C098C}"/>
              </a:ext>
            </a:extLst>
          </p:cNvPr>
          <p:cNvSpPr txBox="1"/>
          <p:nvPr/>
        </p:nvSpPr>
        <p:spPr>
          <a:xfrm>
            <a:off x="4773167" y="1901696"/>
            <a:ext cx="786085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EASM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CAB2FB-AFF3-AF71-875A-A31A411998FD}"/>
              </a:ext>
            </a:extLst>
          </p:cNvPr>
          <p:cNvSpPr txBox="1"/>
          <p:nvPr/>
        </p:nvSpPr>
        <p:spPr>
          <a:xfrm>
            <a:off x="4370831" y="2428092"/>
            <a:ext cx="335584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AEC1D6"/>
                </a:solidFill>
                <a:latin typeface="Aptos"/>
              </a:rPr>
              <a:t>Continuously monitor public-facing assets and digital exposure.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953103C7-184E-DE76-BDAA-694520D55CD5}"/>
              </a:ext>
            </a:extLst>
          </p:cNvPr>
          <p:cNvSpPr/>
          <p:nvPr/>
        </p:nvSpPr>
        <p:spPr>
          <a:xfrm>
            <a:off x="4370831" y="3085959"/>
            <a:ext cx="914400" cy="274320"/>
          </a:xfrm>
          <a:prstGeom prst="roundRect">
            <a:avLst/>
          </a:prstGeom>
          <a:solidFill>
            <a:srgbClr val="F4B73A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2B04C2-2928-74B0-3D07-BDC400F2DF0D}"/>
              </a:ext>
            </a:extLst>
          </p:cNvPr>
          <p:cNvSpPr txBox="1"/>
          <p:nvPr/>
        </p:nvSpPr>
        <p:spPr>
          <a:xfrm>
            <a:off x="4513682" y="3069231"/>
            <a:ext cx="62869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5142B"/>
                </a:solidFill>
                <a:latin typeface="Aptos"/>
              </a:rPr>
              <a:t>HIGH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60E87703-0AB1-8817-36C9-BCE63663DCA2}"/>
              </a:ext>
            </a:extLst>
          </p:cNvPr>
          <p:cNvSpPr/>
          <p:nvPr/>
        </p:nvSpPr>
        <p:spPr>
          <a:xfrm>
            <a:off x="8028431" y="1778367"/>
            <a:ext cx="3520440" cy="1783080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106D55-A7F3-E33B-1CF7-F601D282AC46}"/>
              </a:ext>
            </a:extLst>
          </p:cNvPr>
          <p:cNvSpPr txBox="1"/>
          <p:nvPr/>
        </p:nvSpPr>
        <p:spPr>
          <a:xfrm>
            <a:off x="8174735" y="1902264"/>
            <a:ext cx="42062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4B73A"/>
                </a:solidFill>
                <a:latin typeface="Aptos"/>
              </a:rPr>
              <a:t>03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5AEF97-D793-699B-F275-F293155013DC}"/>
              </a:ext>
            </a:extLst>
          </p:cNvPr>
          <p:cNvSpPr txBox="1"/>
          <p:nvPr/>
        </p:nvSpPr>
        <p:spPr>
          <a:xfrm>
            <a:off x="8595358" y="1901696"/>
            <a:ext cx="253278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PHISHING SIMULATION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9EFEE5-D778-DD1F-BFCB-77655AA37C0A}"/>
              </a:ext>
            </a:extLst>
          </p:cNvPr>
          <p:cNvSpPr txBox="1"/>
          <p:nvPr/>
        </p:nvSpPr>
        <p:spPr>
          <a:xfrm>
            <a:off x="8193023" y="2377019"/>
            <a:ext cx="292398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AEC1D6"/>
                </a:solidFill>
                <a:latin typeface="Aptos"/>
              </a:rPr>
              <a:t>Expand targeted simulations and awareness testing.</a:t>
            </a:r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68D0FDC9-D168-E1E1-D9B3-B8F15EAC20D2}"/>
              </a:ext>
            </a:extLst>
          </p:cNvPr>
          <p:cNvSpPr/>
          <p:nvPr/>
        </p:nvSpPr>
        <p:spPr>
          <a:xfrm>
            <a:off x="8193023" y="3085959"/>
            <a:ext cx="914400" cy="274320"/>
          </a:xfrm>
          <a:prstGeom prst="roundRect">
            <a:avLst/>
          </a:prstGeom>
          <a:solidFill>
            <a:srgbClr val="F4B73A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E0A4B4-2CA2-5298-1A36-A8B5679108C9}"/>
              </a:ext>
            </a:extLst>
          </p:cNvPr>
          <p:cNvSpPr txBox="1"/>
          <p:nvPr/>
        </p:nvSpPr>
        <p:spPr>
          <a:xfrm>
            <a:off x="8335874" y="3069231"/>
            <a:ext cx="62869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5142B"/>
                </a:solidFill>
                <a:latin typeface="Aptos"/>
              </a:rPr>
              <a:t>HIGH</a:t>
            </a: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E832DD64-4DB0-6038-EE4D-0B91B95CB1B2}"/>
              </a:ext>
            </a:extLst>
          </p:cNvPr>
          <p:cNvSpPr/>
          <p:nvPr/>
        </p:nvSpPr>
        <p:spPr>
          <a:xfrm>
            <a:off x="384048" y="3835767"/>
            <a:ext cx="3520440" cy="1783080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C9F7CD-C238-5FF6-4E0B-7B789916CDDC}"/>
              </a:ext>
            </a:extLst>
          </p:cNvPr>
          <p:cNvSpPr txBox="1"/>
          <p:nvPr/>
        </p:nvSpPr>
        <p:spPr>
          <a:xfrm>
            <a:off x="530351" y="3959664"/>
            <a:ext cx="42062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4B73A"/>
                </a:solidFill>
                <a:latin typeface="Aptos"/>
              </a:rPr>
              <a:t>04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DB8E7E3-F7D9-CC0C-BB84-CF2011EA5001}"/>
              </a:ext>
            </a:extLst>
          </p:cNvPr>
          <p:cNvSpPr txBox="1"/>
          <p:nvPr/>
        </p:nvSpPr>
        <p:spPr>
          <a:xfrm>
            <a:off x="950976" y="3959097"/>
            <a:ext cx="2104881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SECURITY TESTING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9D642F-218D-2169-EB00-2BEB8803E86A}"/>
              </a:ext>
            </a:extLst>
          </p:cNvPr>
          <p:cNvSpPr txBox="1"/>
          <p:nvPr/>
        </p:nvSpPr>
        <p:spPr>
          <a:xfrm>
            <a:off x="548640" y="4376543"/>
            <a:ext cx="3520439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 err="1">
                <a:solidFill>
                  <a:srgbClr val="AEC1D6"/>
                </a:solidFill>
                <a:latin typeface="Aptos"/>
              </a:rPr>
              <a:t>Authorised</a:t>
            </a:r>
            <a:r>
              <a:rPr sz="1400" b="0" i="0" dirty="0">
                <a:solidFill>
                  <a:srgbClr val="AEC1D6"/>
                </a:solidFill>
                <a:latin typeface="Aptos"/>
              </a:rPr>
              <a:t> testing of appropriate administrative systems.</a:t>
            </a:r>
          </a:p>
        </p:txBody>
      </p:sp>
      <p:sp>
        <p:nvSpPr>
          <p:cNvPr id="41" name="Rounded Rectangle 27">
            <a:extLst>
              <a:ext uri="{FF2B5EF4-FFF2-40B4-BE49-F238E27FC236}">
                <a16:creationId xmlns:a16="http://schemas.microsoft.com/office/drawing/2014/main" id="{F44BFCA4-5D24-9CD1-9DA8-C31551BB262C}"/>
              </a:ext>
            </a:extLst>
          </p:cNvPr>
          <p:cNvSpPr/>
          <p:nvPr/>
        </p:nvSpPr>
        <p:spPr>
          <a:xfrm>
            <a:off x="548640" y="5143359"/>
            <a:ext cx="914400" cy="274320"/>
          </a:xfrm>
          <a:prstGeom prst="roundRect">
            <a:avLst/>
          </a:prstGeom>
          <a:solidFill>
            <a:srgbClr val="F4B73A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BFC217-2031-36D2-368D-B3B772ED0943}"/>
              </a:ext>
            </a:extLst>
          </p:cNvPr>
          <p:cNvSpPr txBox="1"/>
          <p:nvPr/>
        </p:nvSpPr>
        <p:spPr>
          <a:xfrm>
            <a:off x="691491" y="5126631"/>
            <a:ext cx="62869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5142B"/>
                </a:solidFill>
                <a:latin typeface="Aptos"/>
              </a:rPr>
              <a:t>HIGH</a:t>
            </a:r>
          </a:p>
        </p:txBody>
      </p:sp>
      <p:sp>
        <p:nvSpPr>
          <p:cNvPr id="43" name="Rounded Rectangle 29">
            <a:extLst>
              <a:ext uri="{FF2B5EF4-FFF2-40B4-BE49-F238E27FC236}">
                <a16:creationId xmlns:a16="http://schemas.microsoft.com/office/drawing/2014/main" id="{C1321C08-899A-E299-D947-53690708AD54}"/>
              </a:ext>
            </a:extLst>
          </p:cNvPr>
          <p:cNvSpPr/>
          <p:nvPr/>
        </p:nvSpPr>
        <p:spPr>
          <a:xfrm>
            <a:off x="4206240" y="3835767"/>
            <a:ext cx="3520440" cy="178308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8AE9A7-8F7D-8749-34A3-5D9E3783CF22}"/>
              </a:ext>
            </a:extLst>
          </p:cNvPr>
          <p:cNvSpPr txBox="1"/>
          <p:nvPr/>
        </p:nvSpPr>
        <p:spPr>
          <a:xfrm>
            <a:off x="4352543" y="3959664"/>
            <a:ext cx="42062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48C269"/>
                </a:solidFill>
                <a:latin typeface="Aptos"/>
              </a:rPr>
              <a:t>05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CE19D3-05C1-7542-378A-82D15F430F75}"/>
              </a:ext>
            </a:extLst>
          </p:cNvPr>
          <p:cNvSpPr txBox="1"/>
          <p:nvPr/>
        </p:nvSpPr>
        <p:spPr>
          <a:xfrm>
            <a:off x="4773167" y="3959097"/>
            <a:ext cx="1938157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PHYSICAL / CCTV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289D5D-F374-4989-BAA4-291A66EC3ED8}"/>
              </a:ext>
            </a:extLst>
          </p:cNvPr>
          <p:cNvSpPr txBox="1"/>
          <p:nvPr/>
        </p:nvSpPr>
        <p:spPr>
          <a:xfrm>
            <a:off x="4370831" y="4372975"/>
            <a:ext cx="312347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AEC1D6"/>
                </a:solidFill>
                <a:latin typeface="Aptos"/>
              </a:rPr>
              <a:t>Correct identified camera gaps and physical weaknesses.</a:t>
            </a:r>
          </a:p>
        </p:txBody>
      </p:sp>
      <p:sp>
        <p:nvSpPr>
          <p:cNvPr id="47" name="Rounded Rectangle 33">
            <a:extLst>
              <a:ext uri="{FF2B5EF4-FFF2-40B4-BE49-F238E27FC236}">
                <a16:creationId xmlns:a16="http://schemas.microsoft.com/office/drawing/2014/main" id="{4B40A168-F51B-5A01-F011-DAA477ED6D85}"/>
              </a:ext>
            </a:extLst>
          </p:cNvPr>
          <p:cNvSpPr/>
          <p:nvPr/>
        </p:nvSpPr>
        <p:spPr>
          <a:xfrm>
            <a:off x="4370831" y="5143359"/>
            <a:ext cx="914400" cy="274320"/>
          </a:xfrm>
          <a:prstGeom prst="roundRect">
            <a:avLst/>
          </a:prstGeom>
          <a:solidFill>
            <a:srgbClr val="48C269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C9D2EF1-7202-697A-326B-512D27A98426}"/>
              </a:ext>
            </a:extLst>
          </p:cNvPr>
          <p:cNvSpPr txBox="1"/>
          <p:nvPr/>
        </p:nvSpPr>
        <p:spPr>
          <a:xfrm>
            <a:off x="4384640" y="5126631"/>
            <a:ext cx="88678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5142B"/>
                </a:solidFill>
                <a:latin typeface="Aptos"/>
              </a:rPr>
              <a:t>MEDIUM</a:t>
            </a:r>
          </a:p>
        </p:txBody>
      </p:sp>
      <p:sp>
        <p:nvSpPr>
          <p:cNvPr id="49" name="Rounded Rectangle 35">
            <a:extLst>
              <a:ext uri="{FF2B5EF4-FFF2-40B4-BE49-F238E27FC236}">
                <a16:creationId xmlns:a16="http://schemas.microsoft.com/office/drawing/2014/main" id="{DF6EC94B-9200-4AB4-F893-677033A379AF}"/>
              </a:ext>
            </a:extLst>
          </p:cNvPr>
          <p:cNvSpPr/>
          <p:nvPr/>
        </p:nvSpPr>
        <p:spPr>
          <a:xfrm>
            <a:off x="8028431" y="3835767"/>
            <a:ext cx="3520440" cy="178308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7459E08-2B91-A834-8580-DCF1CBE13333}"/>
              </a:ext>
            </a:extLst>
          </p:cNvPr>
          <p:cNvSpPr txBox="1"/>
          <p:nvPr/>
        </p:nvSpPr>
        <p:spPr>
          <a:xfrm>
            <a:off x="8174735" y="3959664"/>
            <a:ext cx="420623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48C269"/>
                </a:solidFill>
                <a:latin typeface="Aptos"/>
              </a:rPr>
              <a:t>06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7711A2-1A15-D03E-E9B1-B976C02FB4B1}"/>
              </a:ext>
            </a:extLst>
          </p:cNvPr>
          <p:cNvSpPr txBox="1"/>
          <p:nvPr/>
        </p:nvSpPr>
        <p:spPr>
          <a:xfrm>
            <a:off x="8595359" y="3959097"/>
            <a:ext cx="3039758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GOVERNANCE FOUNDATION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F6E7F78-BF44-AC99-C286-BDA025482F62}"/>
              </a:ext>
            </a:extLst>
          </p:cNvPr>
          <p:cNvSpPr txBox="1"/>
          <p:nvPr/>
        </p:nvSpPr>
        <p:spPr>
          <a:xfrm>
            <a:off x="8193023" y="4433694"/>
            <a:ext cx="3450337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 dirty="0">
                <a:solidFill>
                  <a:srgbClr val="AEC1D6"/>
                </a:solidFill>
                <a:latin typeface="Aptos"/>
              </a:rPr>
              <a:t>Strengthen structured compliance evidence and tracking.</a:t>
            </a:r>
          </a:p>
        </p:txBody>
      </p:sp>
      <p:sp>
        <p:nvSpPr>
          <p:cNvPr id="53" name="Rounded Rectangle 39">
            <a:extLst>
              <a:ext uri="{FF2B5EF4-FFF2-40B4-BE49-F238E27FC236}">
                <a16:creationId xmlns:a16="http://schemas.microsoft.com/office/drawing/2014/main" id="{6FF748B4-51F9-E7F6-C5F6-C19E1D37618A}"/>
              </a:ext>
            </a:extLst>
          </p:cNvPr>
          <p:cNvSpPr/>
          <p:nvPr/>
        </p:nvSpPr>
        <p:spPr>
          <a:xfrm>
            <a:off x="8193023" y="5143359"/>
            <a:ext cx="914400" cy="274320"/>
          </a:xfrm>
          <a:prstGeom prst="roundRect">
            <a:avLst/>
          </a:prstGeom>
          <a:solidFill>
            <a:srgbClr val="48C269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B79E31-00C6-990A-AE29-2AACA98E53DB}"/>
              </a:ext>
            </a:extLst>
          </p:cNvPr>
          <p:cNvSpPr txBox="1"/>
          <p:nvPr/>
        </p:nvSpPr>
        <p:spPr>
          <a:xfrm>
            <a:off x="8206832" y="5126631"/>
            <a:ext cx="886781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05142B"/>
                </a:solidFill>
                <a:latin typeface="Aptos"/>
              </a:rPr>
              <a:t>MEDIUM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D25FDBF-0D46-A360-035B-73CC79824109}"/>
              </a:ext>
            </a:extLst>
          </p:cNvPr>
          <p:cNvSpPr/>
          <p:nvPr/>
        </p:nvSpPr>
        <p:spPr>
          <a:xfrm>
            <a:off x="384048" y="1391032"/>
            <a:ext cx="1005840" cy="3200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6E59F4-C5CA-B4A3-845C-DEBDD9EEFF9C}"/>
              </a:ext>
            </a:extLst>
          </p:cNvPr>
          <p:cNvSpPr txBox="1"/>
          <p:nvPr/>
        </p:nvSpPr>
        <p:spPr>
          <a:xfrm>
            <a:off x="262989" y="982662"/>
            <a:ext cx="9427765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800" b="1" i="0" dirty="0">
                <a:solidFill>
                  <a:srgbClr val="FFFF00"/>
                </a:solidFill>
                <a:latin typeface="+mj-lt"/>
              </a:rPr>
              <a:t>Immediate risk-reduction </a:t>
            </a:r>
            <a:r>
              <a:rPr lang="en-US" sz="1800" b="1" i="0" dirty="0" err="1">
                <a:solidFill>
                  <a:srgbClr val="FFFF00"/>
                </a:solidFill>
                <a:latin typeface="+mj-lt"/>
              </a:rPr>
              <a:t>programmes</a:t>
            </a:r>
            <a:r>
              <a:rPr lang="en-US" sz="1800" b="1" i="0" dirty="0">
                <a:solidFill>
                  <a:srgbClr val="FFFF00"/>
                </a:solidFill>
                <a:latin typeface="+mj-lt"/>
              </a:rPr>
              <a:t> derived from the SAR findings</a:t>
            </a:r>
          </a:p>
        </p:txBody>
      </p:sp>
      <p:sp>
        <p:nvSpPr>
          <p:cNvPr id="57" name="Slide Number Placeholder 4">
            <a:extLst>
              <a:ext uri="{FF2B5EF4-FFF2-40B4-BE49-F238E27FC236}">
                <a16:creationId xmlns:a16="http://schemas.microsoft.com/office/drawing/2014/main" id="{42E365BD-E5D0-F658-BD5D-1D6C2A72D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871" y="6342188"/>
            <a:ext cx="838199" cy="376440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11</a:t>
            </a:fld>
            <a:endParaRPr lang="x-non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104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930B8AB8-D9C8-4639-88C4-41EDE0636C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YEAR 2 &amp; 3 (CAPABILITY MATURITY)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ED76F5-C14A-44C5-EBB6-A97769B5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6E5A4415-1D80-D0CA-F7B9-98B8B09D2332}"/>
              </a:ext>
            </a:extLst>
          </p:cNvPr>
          <p:cNvGrpSpPr/>
          <p:nvPr/>
        </p:nvGrpSpPr>
        <p:grpSpPr>
          <a:xfrm>
            <a:off x="262989" y="982662"/>
            <a:ext cx="9427765" cy="440374"/>
            <a:chOff x="262989" y="982662"/>
            <a:chExt cx="9427765" cy="440374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D25FDBF-0D46-A360-035B-73CC79824109}"/>
                </a:ext>
              </a:extLst>
            </p:cNvPr>
            <p:cNvSpPr/>
            <p:nvPr/>
          </p:nvSpPr>
          <p:spPr>
            <a:xfrm>
              <a:off x="384048" y="1391032"/>
              <a:ext cx="1005840" cy="3200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16E59F4-C5CA-B4A3-845C-DEBDD9EEFF9C}"/>
                </a:ext>
              </a:extLst>
            </p:cNvPr>
            <p:cNvSpPr txBox="1"/>
            <p:nvPr/>
          </p:nvSpPr>
          <p:spPr>
            <a:xfrm>
              <a:off x="262989" y="982662"/>
              <a:ext cx="942776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800" b="1" i="0" dirty="0">
                  <a:solidFill>
                    <a:srgbClr val="FFFF00"/>
                  </a:solidFill>
                  <a:latin typeface="+mj-lt"/>
                </a:rPr>
                <a:t>Strategic expansion, monitoring, resilience </a:t>
              </a:r>
              <a:r>
                <a:rPr lang="en-US" sz="1800" b="1" i="0">
                  <a:solidFill>
                    <a:srgbClr val="FFFF00"/>
                  </a:solidFill>
                  <a:latin typeface="+mj-lt"/>
                </a:rPr>
                <a:t>and optimization</a:t>
              </a:r>
              <a:endParaRPr lang="en-US" sz="1800" b="1" i="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C05BA684-5725-A4EF-B31E-5A67AA107CCD}"/>
              </a:ext>
            </a:extLst>
          </p:cNvPr>
          <p:cNvSpPr/>
          <p:nvPr/>
        </p:nvSpPr>
        <p:spPr>
          <a:xfrm>
            <a:off x="384048" y="1731234"/>
            <a:ext cx="5440680" cy="4389120"/>
          </a:xfrm>
          <a:prstGeom prst="roundRect">
            <a:avLst/>
          </a:prstGeom>
          <a:solidFill>
            <a:srgbClr val="081F3D"/>
          </a:solidFill>
          <a:ln>
            <a:solidFill>
              <a:srgbClr val="4B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A5F31C-7C35-D96D-26C6-028703BB77AB}"/>
              </a:ext>
            </a:extLst>
          </p:cNvPr>
          <p:cNvSpPr txBox="1"/>
          <p:nvPr/>
        </p:nvSpPr>
        <p:spPr>
          <a:xfrm>
            <a:off x="658368" y="1979681"/>
            <a:ext cx="185743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4BCAFF"/>
                </a:solidFill>
                <a:latin typeface="Aptos"/>
              </a:rPr>
              <a:t>YEAR 2  |  STRATEGIC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F797F-4D9E-28CB-C99B-0FE05AF815DE}"/>
              </a:ext>
            </a:extLst>
          </p:cNvPr>
          <p:cNvSpPr txBox="1"/>
          <p:nvPr/>
        </p:nvSpPr>
        <p:spPr>
          <a:xfrm>
            <a:off x="658368" y="2354586"/>
            <a:ext cx="155779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BUILD MATURITY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5CA3C-0CFE-642C-532C-A88DDA6B3258}"/>
              </a:ext>
            </a:extLst>
          </p:cNvPr>
          <p:cNvSpPr txBox="1"/>
          <p:nvPr/>
        </p:nvSpPr>
        <p:spPr>
          <a:xfrm>
            <a:off x="643591" y="2852934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BCAFF"/>
                </a:solidFill>
                <a:latin typeface="Aptos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1A4024-7455-B575-2BE6-214A641EFEE9}"/>
              </a:ext>
            </a:extLst>
          </p:cNvPr>
          <p:cNvSpPr txBox="1"/>
          <p:nvPr/>
        </p:nvSpPr>
        <p:spPr>
          <a:xfrm>
            <a:off x="1078992" y="2866650"/>
            <a:ext cx="248542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CENTRALISED MONITORING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CD4FAF-26AF-B3A8-A3E2-1FA7F02937A2}"/>
              </a:ext>
            </a:extLst>
          </p:cNvPr>
          <p:cNvSpPr txBox="1"/>
          <p:nvPr/>
        </p:nvSpPr>
        <p:spPr>
          <a:xfrm>
            <a:off x="1039481" y="3046410"/>
            <a:ext cx="275537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Improve log visibility and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F73CF-3E36-8F0B-D859-E2D4267D4BD0}"/>
              </a:ext>
            </a:extLst>
          </p:cNvPr>
          <p:cNvSpPr txBox="1"/>
          <p:nvPr/>
        </p:nvSpPr>
        <p:spPr>
          <a:xfrm>
            <a:off x="643591" y="3438150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BCAFF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8A31A-99AB-720C-4123-3765541FAFC6}"/>
              </a:ext>
            </a:extLst>
          </p:cNvPr>
          <p:cNvSpPr txBox="1"/>
          <p:nvPr/>
        </p:nvSpPr>
        <p:spPr>
          <a:xfrm>
            <a:off x="1078992" y="3451866"/>
            <a:ext cx="210737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ADVANCED DETECTION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07172-B939-9FFE-03EE-1F12E3FBF343}"/>
              </a:ext>
            </a:extLst>
          </p:cNvPr>
          <p:cNvSpPr txBox="1"/>
          <p:nvPr/>
        </p:nvSpPr>
        <p:spPr>
          <a:xfrm>
            <a:off x="1020618" y="3655399"/>
            <a:ext cx="334726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Threat hunting and detection engineering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4C2373-B4B9-1F6D-1B56-0DE490736B75}"/>
              </a:ext>
            </a:extLst>
          </p:cNvPr>
          <p:cNvSpPr txBox="1"/>
          <p:nvPr/>
        </p:nvSpPr>
        <p:spPr>
          <a:xfrm>
            <a:off x="643591" y="4023366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BCAFF"/>
                </a:solidFill>
                <a:latin typeface="Aptos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7796FE-0E25-F8FB-6C6E-6F8C64A6B3DA}"/>
              </a:ext>
            </a:extLst>
          </p:cNvPr>
          <p:cNvSpPr txBox="1"/>
          <p:nvPr/>
        </p:nvSpPr>
        <p:spPr>
          <a:xfrm>
            <a:off x="1078992" y="4037082"/>
            <a:ext cx="203542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SECURITY VALIDATION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A81C22-E4E8-8CCB-AE18-16836AAB0D58}"/>
              </a:ext>
            </a:extLst>
          </p:cNvPr>
          <p:cNvSpPr txBox="1"/>
          <p:nvPr/>
        </p:nvSpPr>
        <p:spPr>
          <a:xfrm>
            <a:off x="1040610" y="4235251"/>
            <a:ext cx="314849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Red / Purple Team and wireless testing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FA75DC-DEB0-1CCC-49EF-AC6734AFB910}"/>
              </a:ext>
            </a:extLst>
          </p:cNvPr>
          <p:cNvSpPr txBox="1"/>
          <p:nvPr/>
        </p:nvSpPr>
        <p:spPr>
          <a:xfrm>
            <a:off x="643591" y="4608582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BCAFF"/>
                </a:solidFill>
                <a:latin typeface="Aptos"/>
              </a:rPr>
              <a:t>04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404AC7-D5A4-0F5E-90C3-319AA5BE699D}"/>
              </a:ext>
            </a:extLst>
          </p:cNvPr>
          <p:cNvSpPr txBox="1"/>
          <p:nvPr/>
        </p:nvSpPr>
        <p:spPr>
          <a:xfrm>
            <a:off x="1078992" y="4622298"/>
            <a:ext cx="254486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INFRASTRUCTURE MATURITY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8423DA4-2067-8BD5-F2BC-FC685D659AC8}"/>
              </a:ext>
            </a:extLst>
          </p:cNvPr>
          <p:cNvSpPr txBox="1"/>
          <p:nvPr/>
        </p:nvSpPr>
        <p:spPr>
          <a:xfrm>
            <a:off x="1037081" y="4798373"/>
            <a:ext cx="2670731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Strengthen security architecture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B4477F-59B4-114A-3654-BCA260C51A17}"/>
              </a:ext>
            </a:extLst>
          </p:cNvPr>
          <p:cNvSpPr txBox="1"/>
          <p:nvPr/>
        </p:nvSpPr>
        <p:spPr>
          <a:xfrm>
            <a:off x="643591" y="5193798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BCAFF"/>
                </a:solidFill>
                <a:latin typeface="Aptos"/>
              </a:rPr>
              <a:t>05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881535-53E1-9663-8439-A224D948892A}"/>
              </a:ext>
            </a:extLst>
          </p:cNvPr>
          <p:cNvSpPr txBox="1"/>
          <p:nvPr/>
        </p:nvSpPr>
        <p:spPr>
          <a:xfrm>
            <a:off x="1078992" y="5207514"/>
            <a:ext cx="2103140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RECOVERY RESILIENCE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3FDEE5-CC28-FD5E-05F1-81A680C54F88}"/>
              </a:ext>
            </a:extLst>
          </p:cNvPr>
          <p:cNvSpPr txBox="1"/>
          <p:nvPr/>
        </p:nvSpPr>
        <p:spPr>
          <a:xfrm>
            <a:off x="1047746" y="5381250"/>
            <a:ext cx="343613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Deepen continuity and recovery capability</a:t>
            </a:r>
          </a:p>
        </p:txBody>
      </p:sp>
      <p:sp>
        <p:nvSpPr>
          <p:cNvPr id="61" name="Rounded Rectangle 23">
            <a:extLst>
              <a:ext uri="{FF2B5EF4-FFF2-40B4-BE49-F238E27FC236}">
                <a16:creationId xmlns:a16="http://schemas.microsoft.com/office/drawing/2014/main" id="{E8704B24-6808-9C9D-DCAC-A0D83E60FA76}"/>
              </a:ext>
            </a:extLst>
          </p:cNvPr>
          <p:cNvSpPr/>
          <p:nvPr/>
        </p:nvSpPr>
        <p:spPr>
          <a:xfrm>
            <a:off x="5989320" y="1731234"/>
            <a:ext cx="5815584" cy="438912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C362F9-E7A5-B305-6BA9-00235894AFFF}"/>
              </a:ext>
            </a:extLst>
          </p:cNvPr>
          <p:cNvSpPr txBox="1"/>
          <p:nvPr/>
        </p:nvSpPr>
        <p:spPr>
          <a:xfrm>
            <a:off x="6263640" y="1979681"/>
            <a:ext cx="214699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48C269"/>
                </a:solidFill>
                <a:latin typeface="Aptos"/>
              </a:rPr>
              <a:t>YEAR 3  |  OPTIMISATION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9C19952-70C2-3747-A776-D03D8D117E0E}"/>
              </a:ext>
            </a:extLst>
          </p:cNvPr>
          <p:cNvSpPr txBox="1"/>
          <p:nvPr/>
        </p:nvSpPr>
        <p:spPr>
          <a:xfrm>
            <a:off x="6263640" y="2354586"/>
            <a:ext cx="196797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 dirty="0">
                <a:solidFill>
                  <a:srgbClr val="F5F8FC"/>
                </a:solidFill>
                <a:latin typeface="Aptos"/>
              </a:rPr>
              <a:t>OPTIMISE CAPABILITY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670735F-629B-F1D1-F128-274CD8F1890D}"/>
              </a:ext>
            </a:extLst>
          </p:cNvPr>
          <p:cNvSpPr txBox="1"/>
          <p:nvPr/>
        </p:nvSpPr>
        <p:spPr>
          <a:xfrm>
            <a:off x="6258007" y="2852934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8C269"/>
                </a:solidFill>
                <a:latin typeface="Aptos"/>
              </a:rPr>
              <a:t>01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C63319D-4A75-4435-EE4A-574C8A254974}"/>
              </a:ext>
            </a:extLst>
          </p:cNvPr>
          <p:cNvSpPr txBox="1"/>
          <p:nvPr/>
        </p:nvSpPr>
        <p:spPr>
          <a:xfrm>
            <a:off x="6693408" y="2866650"/>
            <a:ext cx="2154564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SECURITY AUTOMATION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F61A96-E9F1-3030-930C-B11C1E8998D0}"/>
              </a:ext>
            </a:extLst>
          </p:cNvPr>
          <p:cNvSpPr txBox="1"/>
          <p:nvPr/>
        </p:nvSpPr>
        <p:spPr>
          <a:xfrm>
            <a:off x="6635034" y="3088983"/>
            <a:ext cx="4392998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Automate repetitive security and compliance activities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0D326C-781E-4FE0-4D09-59293292B516}"/>
              </a:ext>
            </a:extLst>
          </p:cNvPr>
          <p:cNvSpPr txBox="1"/>
          <p:nvPr/>
        </p:nvSpPr>
        <p:spPr>
          <a:xfrm>
            <a:off x="6258007" y="3538734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8C269"/>
                </a:solidFill>
                <a:latin typeface="Aptos"/>
              </a:rPr>
              <a:t>02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F615CE-C230-9DB3-4CA9-02F6524F1D5E}"/>
              </a:ext>
            </a:extLst>
          </p:cNvPr>
          <p:cNvSpPr txBox="1"/>
          <p:nvPr/>
        </p:nvSpPr>
        <p:spPr>
          <a:xfrm>
            <a:off x="6693408" y="3552450"/>
            <a:ext cx="2069862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ADVANCED ANALYTICS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460459-1635-E654-5666-24E36E265311}"/>
              </a:ext>
            </a:extLst>
          </p:cNvPr>
          <p:cNvSpPr txBox="1"/>
          <p:nvPr/>
        </p:nvSpPr>
        <p:spPr>
          <a:xfrm>
            <a:off x="6635034" y="3766575"/>
            <a:ext cx="3609066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AI-assisted analytics and anomaly detection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F01F274-FDF4-3345-353C-AA880F571973}"/>
              </a:ext>
            </a:extLst>
          </p:cNvPr>
          <p:cNvSpPr txBox="1"/>
          <p:nvPr/>
        </p:nvSpPr>
        <p:spPr>
          <a:xfrm>
            <a:off x="6258007" y="4224534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8C269"/>
                </a:solidFill>
                <a:latin typeface="Aptos"/>
              </a:rPr>
              <a:t>03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D22A80F-7494-BEBA-8588-11D32B0C720B}"/>
              </a:ext>
            </a:extLst>
          </p:cNvPr>
          <p:cNvSpPr txBox="1"/>
          <p:nvPr/>
        </p:nvSpPr>
        <p:spPr>
          <a:xfrm>
            <a:off x="6693408" y="4238250"/>
            <a:ext cx="260718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GOVERNANCE OPTIMISATION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17A8B9F-1EB2-F31D-E8F5-7D602AD0845D}"/>
              </a:ext>
            </a:extLst>
          </p:cNvPr>
          <p:cNvSpPr txBox="1"/>
          <p:nvPr/>
        </p:nvSpPr>
        <p:spPr>
          <a:xfrm>
            <a:off x="6661100" y="4444167"/>
            <a:ext cx="3310715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GRC platform and executive dashboards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4867585-7DC6-4322-497D-7643DE2B023E}"/>
              </a:ext>
            </a:extLst>
          </p:cNvPr>
          <p:cNvSpPr txBox="1"/>
          <p:nvPr/>
        </p:nvSpPr>
        <p:spPr>
          <a:xfrm>
            <a:off x="6258007" y="4910334"/>
            <a:ext cx="37702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48C269"/>
                </a:solidFill>
                <a:latin typeface="Aptos"/>
              </a:rPr>
              <a:t>04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B56CEAA-F240-E4C5-9D16-A993EBFBDF36}"/>
              </a:ext>
            </a:extLst>
          </p:cNvPr>
          <p:cNvSpPr txBox="1"/>
          <p:nvPr/>
        </p:nvSpPr>
        <p:spPr>
          <a:xfrm>
            <a:off x="6693408" y="4924050"/>
            <a:ext cx="2407839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i="0">
                <a:solidFill>
                  <a:srgbClr val="F5F8FC"/>
                </a:solidFill>
                <a:latin typeface="Aptos"/>
              </a:rPr>
              <a:t>CONTINUOUS ASSURANCE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751E63-8734-00A2-4F0E-23187731E397}"/>
              </a:ext>
            </a:extLst>
          </p:cNvPr>
          <p:cNvSpPr txBox="1"/>
          <p:nvPr/>
        </p:nvSpPr>
        <p:spPr>
          <a:xfrm>
            <a:off x="6661100" y="5128371"/>
            <a:ext cx="407746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0" i="0" dirty="0">
                <a:solidFill>
                  <a:srgbClr val="AEC1D6"/>
                </a:solidFill>
                <a:latin typeface="Aptos"/>
              </a:rPr>
              <a:t>Continuous testing and strategic risk management</a:t>
            </a:r>
          </a:p>
        </p:txBody>
      </p:sp>
      <p:sp>
        <p:nvSpPr>
          <p:cNvPr id="77" name="Rounded Rectangle 38">
            <a:extLst>
              <a:ext uri="{FF2B5EF4-FFF2-40B4-BE49-F238E27FC236}">
                <a16:creationId xmlns:a16="http://schemas.microsoft.com/office/drawing/2014/main" id="{4E2A3E5A-4D44-DF37-6103-0D9E070CC2A4}"/>
              </a:ext>
            </a:extLst>
          </p:cNvPr>
          <p:cNvSpPr/>
          <p:nvPr/>
        </p:nvSpPr>
        <p:spPr>
          <a:xfrm>
            <a:off x="1135380" y="6298143"/>
            <a:ext cx="9921240" cy="384048"/>
          </a:xfrm>
          <a:prstGeom prst="roundRect">
            <a:avLst/>
          </a:prstGeom>
          <a:solidFill>
            <a:srgbClr val="081F3D"/>
          </a:solidFill>
          <a:ln>
            <a:solidFill>
              <a:srgbClr val="284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07968CE-FE2C-184D-7634-86614A0FA81B}"/>
              </a:ext>
            </a:extLst>
          </p:cNvPr>
          <p:cNvSpPr txBox="1"/>
          <p:nvPr/>
        </p:nvSpPr>
        <p:spPr>
          <a:xfrm>
            <a:off x="2772676" y="6282877"/>
            <a:ext cx="6661888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i="0" dirty="0">
                <a:solidFill>
                  <a:srgbClr val="FFFF00"/>
                </a:solidFill>
                <a:latin typeface="Aptos"/>
              </a:rPr>
              <a:t>Progression: reduce risk → build maturity → optimise capability</a:t>
            </a:r>
          </a:p>
        </p:txBody>
      </p:sp>
      <p:sp>
        <p:nvSpPr>
          <p:cNvPr id="78" name="Slide Number Placeholder 4">
            <a:extLst>
              <a:ext uri="{FF2B5EF4-FFF2-40B4-BE49-F238E27FC236}">
                <a16:creationId xmlns:a16="http://schemas.microsoft.com/office/drawing/2014/main" id="{C886DF9C-4D74-769D-338E-04A9EB777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871" y="6342188"/>
            <a:ext cx="838199" cy="376440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12</a:t>
            </a:fld>
            <a:endParaRPr lang="x-non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885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871" y="6342188"/>
            <a:ext cx="838199" cy="376440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13</a:t>
            </a:fld>
            <a:endParaRPr lang="x-none" dirty="0">
              <a:solidFill>
                <a:srgbClr val="FFFF0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FINANCIAL BUDGET &amp; ROI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004C12-089F-0600-DE45-DEC980CCB9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FC5AAA-C878-16BF-8FED-63856B9B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60" name="Rounded Rectangle 4">
            <a:extLst>
              <a:ext uri="{FF2B5EF4-FFF2-40B4-BE49-F238E27FC236}">
                <a16:creationId xmlns:a16="http://schemas.microsoft.com/office/drawing/2014/main" id="{12CC0B10-5445-367A-9965-6CCD31830157}"/>
              </a:ext>
            </a:extLst>
          </p:cNvPr>
          <p:cNvSpPr/>
          <p:nvPr/>
        </p:nvSpPr>
        <p:spPr>
          <a:xfrm>
            <a:off x="256032" y="1607313"/>
            <a:ext cx="2514600" cy="1508760"/>
          </a:xfrm>
          <a:prstGeom prst="round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D90B46-BE62-B0BB-118F-BB3C9FDE3DBB}"/>
              </a:ext>
            </a:extLst>
          </p:cNvPr>
          <p:cNvSpPr txBox="1"/>
          <p:nvPr/>
        </p:nvSpPr>
        <p:spPr>
          <a:xfrm>
            <a:off x="1061125" y="1713806"/>
            <a:ext cx="904414" cy="3539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 i="0" dirty="0">
                <a:solidFill>
                  <a:srgbClr val="F5F8FC"/>
                </a:solidFill>
                <a:latin typeface="+mj-lt"/>
              </a:rPr>
              <a:t>YEAR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5A0D84-2E1F-4391-DE5D-EDC66A37CB37}"/>
              </a:ext>
            </a:extLst>
          </p:cNvPr>
          <p:cNvSpPr txBox="1"/>
          <p:nvPr/>
        </p:nvSpPr>
        <p:spPr>
          <a:xfrm>
            <a:off x="847124" y="2086590"/>
            <a:ext cx="1332416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 i="0" dirty="0">
                <a:solidFill>
                  <a:srgbClr val="F5B823"/>
                </a:solidFill>
                <a:latin typeface="+mj-lt"/>
              </a:rPr>
              <a:t>₦23.5M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29264D8-6B57-A211-414E-24108AB5F102}"/>
              </a:ext>
            </a:extLst>
          </p:cNvPr>
          <p:cNvSpPr txBox="1"/>
          <p:nvPr/>
        </p:nvSpPr>
        <p:spPr>
          <a:xfrm>
            <a:off x="889603" y="2543234"/>
            <a:ext cx="1247457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i="0" dirty="0" err="1">
                <a:solidFill>
                  <a:srgbClr val="F5F8FC"/>
                </a:solidFill>
                <a:latin typeface="+mj-lt"/>
              </a:rPr>
              <a:t>CapEx</a:t>
            </a:r>
            <a:r>
              <a:rPr sz="1200" b="0" i="0" dirty="0">
                <a:solidFill>
                  <a:srgbClr val="F5F8FC"/>
                </a:solidFill>
                <a:latin typeface="+mj-lt"/>
              </a:rPr>
              <a:t> + </a:t>
            </a:r>
            <a:r>
              <a:rPr sz="1200" b="0" i="0" dirty="0" err="1">
                <a:solidFill>
                  <a:srgbClr val="F5F8FC"/>
                </a:solidFill>
                <a:latin typeface="+mj-lt"/>
              </a:rPr>
              <a:t>OpEx</a:t>
            </a:r>
            <a:endParaRPr sz="1200" b="0" i="0" dirty="0">
              <a:solidFill>
                <a:srgbClr val="F5F8FC"/>
              </a:solidFill>
              <a:latin typeface="+mj-lt"/>
            </a:endParaRPr>
          </a:p>
        </p:txBody>
      </p:sp>
      <p:sp>
        <p:nvSpPr>
          <p:cNvPr id="64" name="Rounded Rectangle 8">
            <a:extLst>
              <a:ext uri="{FF2B5EF4-FFF2-40B4-BE49-F238E27FC236}">
                <a16:creationId xmlns:a16="http://schemas.microsoft.com/office/drawing/2014/main" id="{C33B8BAD-A289-28AF-B1EB-FB570A661DF1}"/>
              </a:ext>
            </a:extLst>
          </p:cNvPr>
          <p:cNvSpPr/>
          <p:nvPr/>
        </p:nvSpPr>
        <p:spPr>
          <a:xfrm>
            <a:off x="3218688" y="1607313"/>
            <a:ext cx="2514600" cy="1508760"/>
          </a:xfrm>
          <a:prstGeom prst="round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198F41-A08E-F82C-E55D-9C20342B46A2}"/>
              </a:ext>
            </a:extLst>
          </p:cNvPr>
          <p:cNvSpPr txBox="1"/>
          <p:nvPr/>
        </p:nvSpPr>
        <p:spPr>
          <a:xfrm>
            <a:off x="4023781" y="1713806"/>
            <a:ext cx="904414" cy="3539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 i="0">
                <a:solidFill>
                  <a:srgbClr val="F5F8FC"/>
                </a:solidFill>
                <a:latin typeface="+mj-lt"/>
              </a:rPr>
              <a:t>YEAR 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B74C7B4-08AE-3F6C-DCB3-EE1386C80E49}"/>
              </a:ext>
            </a:extLst>
          </p:cNvPr>
          <p:cNvSpPr txBox="1"/>
          <p:nvPr/>
        </p:nvSpPr>
        <p:spPr>
          <a:xfrm>
            <a:off x="3944432" y="2086590"/>
            <a:ext cx="1063112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 i="0">
                <a:solidFill>
                  <a:srgbClr val="F5B823"/>
                </a:solidFill>
                <a:latin typeface="+mj-lt"/>
              </a:rPr>
              <a:t>₦29M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9C897E-00FE-D0BA-1D92-777AF28AC452}"/>
              </a:ext>
            </a:extLst>
          </p:cNvPr>
          <p:cNvSpPr txBox="1"/>
          <p:nvPr/>
        </p:nvSpPr>
        <p:spPr>
          <a:xfrm>
            <a:off x="3852259" y="2543234"/>
            <a:ext cx="1247457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i="0">
                <a:solidFill>
                  <a:srgbClr val="F5F8FC"/>
                </a:solidFill>
                <a:latin typeface="+mj-lt"/>
              </a:rPr>
              <a:t>CapEx + OpEx</a:t>
            </a:r>
          </a:p>
        </p:txBody>
      </p:sp>
      <p:sp>
        <p:nvSpPr>
          <p:cNvPr id="68" name="Rounded Rectangle 12">
            <a:extLst>
              <a:ext uri="{FF2B5EF4-FFF2-40B4-BE49-F238E27FC236}">
                <a16:creationId xmlns:a16="http://schemas.microsoft.com/office/drawing/2014/main" id="{D9880B4F-BB9E-3E46-AFB7-6DE2D8BBED3E}"/>
              </a:ext>
            </a:extLst>
          </p:cNvPr>
          <p:cNvSpPr/>
          <p:nvPr/>
        </p:nvSpPr>
        <p:spPr>
          <a:xfrm>
            <a:off x="6181344" y="1607313"/>
            <a:ext cx="2514600" cy="1508760"/>
          </a:xfrm>
          <a:prstGeom prst="round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6F53DE-38D6-A71A-654D-83C4DD98F43A}"/>
              </a:ext>
            </a:extLst>
          </p:cNvPr>
          <p:cNvSpPr txBox="1"/>
          <p:nvPr/>
        </p:nvSpPr>
        <p:spPr>
          <a:xfrm>
            <a:off x="6986437" y="1713806"/>
            <a:ext cx="904414" cy="353943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 i="0">
                <a:solidFill>
                  <a:srgbClr val="F5F8FC"/>
                </a:solidFill>
                <a:latin typeface="+mj-lt"/>
              </a:rPr>
              <a:t>YEAR 3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EC80E4-349A-FFF4-7619-454C414C2AAB}"/>
              </a:ext>
            </a:extLst>
          </p:cNvPr>
          <p:cNvSpPr txBox="1"/>
          <p:nvPr/>
        </p:nvSpPr>
        <p:spPr>
          <a:xfrm>
            <a:off x="6907088" y="2086590"/>
            <a:ext cx="1063112" cy="4770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 i="0">
                <a:solidFill>
                  <a:srgbClr val="F5B823"/>
                </a:solidFill>
                <a:latin typeface="+mj-lt"/>
              </a:rPr>
              <a:t>₦36M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F0F3B7-CF9E-62C0-18E5-7D9F9EEFCE4F}"/>
              </a:ext>
            </a:extLst>
          </p:cNvPr>
          <p:cNvSpPr txBox="1"/>
          <p:nvPr/>
        </p:nvSpPr>
        <p:spPr>
          <a:xfrm>
            <a:off x="6814915" y="2543234"/>
            <a:ext cx="1247457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0" i="0">
                <a:solidFill>
                  <a:srgbClr val="F5F8FC"/>
                </a:solidFill>
                <a:latin typeface="+mj-lt"/>
              </a:rPr>
              <a:t>CapEx + OpEx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8862535-04B8-103D-87D7-7FDB9902E9ED}"/>
              </a:ext>
            </a:extLst>
          </p:cNvPr>
          <p:cNvSpPr txBox="1"/>
          <p:nvPr/>
        </p:nvSpPr>
        <p:spPr>
          <a:xfrm>
            <a:off x="2779776" y="203708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69D334A-A21D-725E-0DDD-49381A10682C}"/>
              </a:ext>
            </a:extLst>
          </p:cNvPr>
          <p:cNvSpPr txBox="1"/>
          <p:nvPr/>
        </p:nvSpPr>
        <p:spPr>
          <a:xfrm>
            <a:off x="5742432" y="2037080"/>
            <a:ext cx="320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700" b="1" i="0">
                <a:solidFill>
                  <a:srgbClr val="F5F8FC"/>
                </a:solidFill>
                <a:latin typeface="Aptos"/>
              </a:rPr>
              <a:t>→</a:t>
            </a:r>
          </a:p>
        </p:txBody>
      </p:sp>
      <p:sp>
        <p:nvSpPr>
          <p:cNvPr id="74" name="Rounded Rectangle 18">
            <a:extLst>
              <a:ext uri="{FF2B5EF4-FFF2-40B4-BE49-F238E27FC236}">
                <a16:creationId xmlns:a16="http://schemas.microsoft.com/office/drawing/2014/main" id="{D53CAB7A-31FE-127E-3CA7-5B8C9F93D332}"/>
              </a:ext>
            </a:extLst>
          </p:cNvPr>
          <p:cNvSpPr/>
          <p:nvPr/>
        </p:nvSpPr>
        <p:spPr>
          <a:xfrm>
            <a:off x="9144000" y="1607313"/>
            <a:ext cx="2761488" cy="1508760"/>
          </a:xfrm>
          <a:prstGeom prst="roundRect">
            <a:avLst/>
          </a:prstGeom>
          <a:solidFill>
            <a:srgbClr val="DEEBF6"/>
          </a:solidFill>
          <a:ln>
            <a:solidFill>
              <a:srgbClr val="DEE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817B6F-7ADB-4510-F3BD-FCA3CAD3049E}"/>
              </a:ext>
            </a:extLst>
          </p:cNvPr>
          <p:cNvSpPr txBox="1"/>
          <p:nvPr/>
        </p:nvSpPr>
        <p:spPr>
          <a:xfrm>
            <a:off x="9301492" y="1727745"/>
            <a:ext cx="2446503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>
                <a:solidFill>
                  <a:srgbClr val="092A4D"/>
                </a:solidFill>
                <a:latin typeface="+mj-lt"/>
              </a:rPr>
              <a:t>TOTAL 3-YEAR INVESTMENT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8252C0-916B-C894-EB0C-B2662339D1F3}"/>
              </a:ext>
            </a:extLst>
          </p:cNvPr>
          <p:cNvSpPr txBox="1"/>
          <p:nvPr/>
        </p:nvSpPr>
        <p:spPr>
          <a:xfrm>
            <a:off x="9744723" y="2130414"/>
            <a:ext cx="1560042" cy="5539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 i="0">
                <a:solidFill>
                  <a:srgbClr val="4BC344"/>
                </a:solidFill>
                <a:latin typeface="+mj-lt"/>
              </a:rPr>
              <a:t>₦88.5M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BDA17E5D-A389-A7EC-A280-DBCA8606B1B1}"/>
              </a:ext>
            </a:extLst>
          </p:cNvPr>
          <p:cNvSpPr/>
          <p:nvPr/>
        </p:nvSpPr>
        <p:spPr>
          <a:xfrm>
            <a:off x="256032" y="3253232"/>
            <a:ext cx="4251960" cy="393193"/>
          </a:xfrm>
          <a:prstGeom prst="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1C67D02-F662-DBA9-989E-93C39A5771B3}"/>
              </a:ext>
            </a:extLst>
          </p:cNvPr>
          <p:cNvSpPr txBox="1"/>
          <p:nvPr/>
        </p:nvSpPr>
        <p:spPr>
          <a:xfrm>
            <a:off x="1413637" y="3325374"/>
            <a:ext cx="193674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 dirty="0">
                <a:solidFill>
                  <a:srgbClr val="24B1F5"/>
                </a:solidFill>
                <a:latin typeface="+mj-lt"/>
              </a:rPr>
              <a:t>INVESTMENT CATEGORY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7AD2472-B826-41DA-0628-EC15542D55B7}"/>
              </a:ext>
            </a:extLst>
          </p:cNvPr>
          <p:cNvSpPr/>
          <p:nvPr/>
        </p:nvSpPr>
        <p:spPr>
          <a:xfrm>
            <a:off x="4507992" y="3253232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+mj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B62B69-BD6D-54CB-12CF-DC4C9037BC19}"/>
              </a:ext>
            </a:extLst>
          </p:cNvPr>
          <p:cNvSpPr txBox="1"/>
          <p:nvPr/>
        </p:nvSpPr>
        <p:spPr>
          <a:xfrm>
            <a:off x="4953629" y="3264269"/>
            <a:ext cx="963725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 dirty="0">
                <a:solidFill>
                  <a:srgbClr val="24B1F5"/>
                </a:solidFill>
                <a:latin typeface="+mj-lt"/>
              </a:rPr>
              <a:t>YEAR 1 (₦)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2CAF3A9-6077-F50F-3709-13E5BFF37319}"/>
              </a:ext>
            </a:extLst>
          </p:cNvPr>
          <p:cNvSpPr/>
          <p:nvPr/>
        </p:nvSpPr>
        <p:spPr>
          <a:xfrm>
            <a:off x="6336792" y="3253232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02E371B-61F5-95F0-C4B6-AA389810D21A}"/>
              </a:ext>
            </a:extLst>
          </p:cNvPr>
          <p:cNvSpPr txBox="1"/>
          <p:nvPr/>
        </p:nvSpPr>
        <p:spPr>
          <a:xfrm>
            <a:off x="6808602" y="3283896"/>
            <a:ext cx="88517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 dirty="0">
                <a:solidFill>
                  <a:srgbClr val="24B1F5"/>
                </a:solidFill>
                <a:latin typeface="Aptos"/>
              </a:rPr>
              <a:t>YEAR 2 (₦)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6046CB48-D3D6-CE38-310B-5DD2B70F03F9}"/>
              </a:ext>
            </a:extLst>
          </p:cNvPr>
          <p:cNvSpPr/>
          <p:nvPr/>
        </p:nvSpPr>
        <p:spPr>
          <a:xfrm>
            <a:off x="8165592" y="3253232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00CF803-E3F5-FFCF-58AC-22F11601D543}"/>
              </a:ext>
            </a:extLst>
          </p:cNvPr>
          <p:cNvSpPr txBox="1"/>
          <p:nvPr/>
        </p:nvSpPr>
        <p:spPr>
          <a:xfrm>
            <a:off x="8598128" y="3283896"/>
            <a:ext cx="963725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4B1F5"/>
                </a:solidFill>
                <a:latin typeface="+mj-lt"/>
              </a:rPr>
              <a:t>YEAR 3 (₦)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DE33D9A-6FA7-3F6B-C99A-F4FD069B0C9B}"/>
              </a:ext>
            </a:extLst>
          </p:cNvPr>
          <p:cNvSpPr/>
          <p:nvPr/>
        </p:nvSpPr>
        <p:spPr>
          <a:xfrm>
            <a:off x="9994392" y="3253232"/>
            <a:ext cx="1911095" cy="338328"/>
          </a:xfrm>
          <a:prstGeom prst="rect">
            <a:avLst/>
          </a:prstGeom>
          <a:solidFill>
            <a:srgbClr val="072346"/>
          </a:solidFill>
          <a:ln>
            <a:solidFill>
              <a:srgbClr val="24B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A0B6480-9428-E73E-C5E9-A683E8B250AA}"/>
              </a:ext>
            </a:extLst>
          </p:cNvPr>
          <p:cNvSpPr txBox="1"/>
          <p:nvPr/>
        </p:nvSpPr>
        <p:spPr>
          <a:xfrm>
            <a:off x="10216405" y="3283896"/>
            <a:ext cx="146706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4B1F5"/>
                </a:solidFill>
                <a:latin typeface="+mj-lt"/>
              </a:rPr>
              <a:t>3-YEAR TOTAL (₦)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C69C507-1510-85DD-D551-599C40EA3671}"/>
              </a:ext>
            </a:extLst>
          </p:cNvPr>
          <p:cNvSpPr/>
          <p:nvPr/>
        </p:nvSpPr>
        <p:spPr>
          <a:xfrm>
            <a:off x="256032" y="3591560"/>
            <a:ext cx="425196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B6CF5F-F681-AA30-7178-A3B40BE9DDD2}"/>
              </a:ext>
            </a:extLst>
          </p:cNvPr>
          <p:cNvSpPr txBox="1"/>
          <p:nvPr/>
        </p:nvSpPr>
        <p:spPr>
          <a:xfrm>
            <a:off x="301752" y="3718568"/>
            <a:ext cx="201850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+mj-lt"/>
              </a:rPr>
              <a:t>Workforce Development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AB40428-E1B3-5B17-19E8-0FEAE844DE55}"/>
              </a:ext>
            </a:extLst>
          </p:cNvPr>
          <p:cNvSpPr/>
          <p:nvPr/>
        </p:nvSpPr>
        <p:spPr>
          <a:xfrm>
            <a:off x="4507992" y="3591560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F4D4624-84C0-D3A9-A392-D68D7EDF3E45}"/>
              </a:ext>
            </a:extLst>
          </p:cNvPr>
          <p:cNvSpPr txBox="1"/>
          <p:nvPr/>
        </p:nvSpPr>
        <p:spPr>
          <a:xfrm>
            <a:off x="5119264" y="3718568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₦10M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867B4B7-8DC3-6F44-01A4-AC9F49E3E2FE}"/>
              </a:ext>
            </a:extLst>
          </p:cNvPr>
          <p:cNvSpPr/>
          <p:nvPr/>
        </p:nvSpPr>
        <p:spPr>
          <a:xfrm>
            <a:off x="6336792" y="3591560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8550CDA-D04D-0B25-92B7-C6FDAE66CB57}"/>
              </a:ext>
            </a:extLst>
          </p:cNvPr>
          <p:cNvSpPr txBox="1"/>
          <p:nvPr/>
        </p:nvSpPr>
        <p:spPr>
          <a:xfrm>
            <a:off x="6990543" y="3663703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₦7M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F9930AB-1E8C-C79B-8763-875CA9271AA0}"/>
              </a:ext>
            </a:extLst>
          </p:cNvPr>
          <p:cNvSpPr/>
          <p:nvPr/>
        </p:nvSpPr>
        <p:spPr>
          <a:xfrm>
            <a:off x="8165592" y="3591560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09F0D1-6CCA-41F9-03BC-BC64FE773B0C}"/>
              </a:ext>
            </a:extLst>
          </p:cNvPr>
          <p:cNvSpPr txBox="1"/>
          <p:nvPr/>
        </p:nvSpPr>
        <p:spPr>
          <a:xfrm>
            <a:off x="8819343" y="3663703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₦8M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53CC795-E041-5983-1A3F-61CD41F4A84C}"/>
              </a:ext>
            </a:extLst>
          </p:cNvPr>
          <p:cNvSpPr/>
          <p:nvPr/>
        </p:nvSpPr>
        <p:spPr>
          <a:xfrm>
            <a:off x="9994392" y="3591560"/>
            <a:ext cx="1911095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7839B4C-F7B1-0813-D9BA-100ED75DB937}"/>
              </a:ext>
            </a:extLst>
          </p:cNvPr>
          <p:cNvSpPr txBox="1"/>
          <p:nvPr/>
        </p:nvSpPr>
        <p:spPr>
          <a:xfrm>
            <a:off x="10646812" y="3622225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4BC344"/>
                </a:solidFill>
                <a:latin typeface="+mj-lt"/>
              </a:rPr>
              <a:t>₦25M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695B8583-FEDB-A499-9305-FBC71B2423B8}"/>
              </a:ext>
            </a:extLst>
          </p:cNvPr>
          <p:cNvSpPr/>
          <p:nvPr/>
        </p:nvSpPr>
        <p:spPr>
          <a:xfrm>
            <a:off x="256032" y="3929888"/>
            <a:ext cx="425196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B08B356-2B52-F803-20DD-0390E0BF169F}"/>
              </a:ext>
            </a:extLst>
          </p:cNvPr>
          <p:cNvSpPr txBox="1"/>
          <p:nvPr/>
        </p:nvSpPr>
        <p:spPr>
          <a:xfrm>
            <a:off x="301752" y="4056895"/>
            <a:ext cx="2739853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+mj-lt"/>
              </a:rPr>
              <a:t>External Attack Surface Protection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31967A3-80DD-6CF7-0072-98174A475DD6}"/>
              </a:ext>
            </a:extLst>
          </p:cNvPr>
          <p:cNvSpPr/>
          <p:nvPr/>
        </p:nvSpPr>
        <p:spPr>
          <a:xfrm>
            <a:off x="4507992" y="3939033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F35245-1A51-0823-11FA-0C7C89E13392}"/>
              </a:ext>
            </a:extLst>
          </p:cNvPr>
          <p:cNvSpPr txBox="1"/>
          <p:nvPr/>
        </p:nvSpPr>
        <p:spPr>
          <a:xfrm>
            <a:off x="5161743" y="4056895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₦5M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7DDE5C7-7302-3742-B0A8-97203EE882A5}"/>
              </a:ext>
            </a:extLst>
          </p:cNvPr>
          <p:cNvSpPr/>
          <p:nvPr/>
        </p:nvSpPr>
        <p:spPr>
          <a:xfrm>
            <a:off x="6336792" y="3929888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F3336C1-1CBB-2D90-2711-5AE3140D255C}"/>
              </a:ext>
            </a:extLst>
          </p:cNvPr>
          <p:cNvSpPr txBox="1"/>
          <p:nvPr/>
        </p:nvSpPr>
        <p:spPr>
          <a:xfrm>
            <a:off x="6990543" y="4002030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₦2M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C82A35BE-77FA-DEEF-7C4C-74636A67181F}"/>
              </a:ext>
            </a:extLst>
          </p:cNvPr>
          <p:cNvSpPr/>
          <p:nvPr/>
        </p:nvSpPr>
        <p:spPr>
          <a:xfrm>
            <a:off x="8165592" y="3929888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73DE251-96B3-47AD-2B1A-08935ABB6FB6}"/>
              </a:ext>
            </a:extLst>
          </p:cNvPr>
          <p:cNvSpPr txBox="1"/>
          <p:nvPr/>
        </p:nvSpPr>
        <p:spPr>
          <a:xfrm>
            <a:off x="8819343" y="4002030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₦2M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E094F484-8B79-55BC-56FE-3C4D424C86CD}"/>
              </a:ext>
            </a:extLst>
          </p:cNvPr>
          <p:cNvSpPr/>
          <p:nvPr/>
        </p:nvSpPr>
        <p:spPr>
          <a:xfrm>
            <a:off x="9994392" y="3929888"/>
            <a:ext cx="1911095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FCBB588-2A7C-0C52-47AA-0F3B2346481F}"/>
              </a:ext>
            </a:extLst>
          </p:cNvPr>
          <p:cNvSpPr txBox="1"/>
          <p:nvPr/>
        </p:nvSpPr>
        <p:spPr>
          <a:xfrm>
            <a:off x="10689290" y="3960552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4BC344"/>
                </a:solidFill>
                <a:latin typeface="+mj-lt"/>
              </a:rPr>
              <a:t>₦9M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909BF8AE-262B-A399-4A38-F266510F9559}"/>
              </a:ext>
            </a:extLst>
          </p:cNvPr>
          <p:cNvSpPr/>
          <p:nvPr/>
        </p:nvSpPr>
        <p:spPr>
          <a:xfrm>
            <a:off x="256032" y="4268216"/>
            <a:ext cx="425196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ACCC507-BE15-184A-4D29-860F30A23016}"/>
              </a:ext>
            </a:extLst>
          </p:cNvPr>
          <p:cNvSpPr txBox="1"/>
          <p:nvPr/>
        </p:nvSpPr>
        <p:spPr>
          <a:xfrm>
            <a:off x="301752" y="4395223"/>
            <a:ext cx="2541080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+mj-lt"/>
              </a:rPr>
              <a:t>Physical Security Improvements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FCB3B87B-10CA-FEB4-4EFD-CCA85941100B}"/>
              </a:ext>
            </a:extLst>
          </p:cNvPr>
          <p:cNvSpPr/>
          <p:nvPr/>
        </p:nvSpPr>
        <p:spPr>
          <a:xfrm>
            <a:off x="4507992" y="4268216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306B33F-2E14-3858-BDBF-81054904CECA}"/>
              </a:ext>
            </a:extLst>
          </p:cNvPr>
          <p:cNvSpPr txBox="1"/>
          <p:nvPr/>
        </p:nvSpPr>
        <p:spPr>
          <a:xfrm>
            <a:off x="5161743" y="4395223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₦5M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06485AA-3A24-0DB9-4274-73A63B98AE5E}"/>
              </a:ext>
            </a:extLst>
          </p:cNvPr>
          <p:cNvSpPr/>
          <p:nvPr/>
        </p:nvSpPr>
        <p:spPr>
          <a:xfrm>
            <a:off x="6336792" y="4268216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8A8149E-1DBD-C6E5-B77B-A68D2AD66AA5}"/>
              </a:ext>
            </a:extLst>
          </p:cNvPr>
          <p:cNvSpPr txBox="1"/>
          <p:nvPr/>
        </p:nvSpPr>
        <p:spPr>
          <a:xfrm>
            <a:off x="6990543" y="4340358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₦5M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AC774AF-2AA2-77FE-EC19-A9A7A216D29F}"/>
              </a:ext>
            </a:extLst>
          </p:cNvPr>
          <p:cNvSpPr/>
          <p:nvPr/>
        </p:nvSpPr>
        <p:spPr>
          <a:xfrm>
            <a:off x="8165592" y="4268216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E48C6BB-4C1E-30CE-3DC1-71DBBBFDCF62}"/>
              </a:ext>
            </a:extLst>
          </p:cNvPr>
          <p:cNvSpPr txBox="1"/>
          <p:nvPr/>
        </p:nvSpPr>
        <p:spPr>
          <a:xfrm>
            <a:off x="8819343" y="4340358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₦1M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2818952-7B25-F763-0F1F-DBEB443AA3E7}"/>
              </a:ext>
            </a:extLst>
          </p:cNvPr>
          <p:cNvSpPr/>
          <p:nvPr/>
        </p:nvSpPr>
        <p:spPr>
          <a:xfrm>
            <a:off x="9994392" y="4268216"/>
            <a:ext cx="1911095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2A5D918A-FCDB-0D15-59ED-9C9C2294A494}"/>
              </a:ext>
            </a:extLst>
          </p:cNvPr>
          <p:cNvSpPr txBox="1"/>
          <p:nvPr/>
        </p:nvSpPr>
        <p:spPr>
          <a:xfrm>
            <a:off x="10646812" y="4298880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4BC344"/>
                </a:solidFill>
                <a:latin typeface="+mj-lt"/>
              </a:rPr>
              <a:t>₦11M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CD3F4DC-4396-751E-4F11-07E0DA6B5C71}"/>
              </a:ext>
            </a:extLst>
          </p:cNvPr>
          <p:cNvSpPr/>
          <p:nvPr/>
        </p:nvSpPr>
        <p:spPr>
          <a:xfrm>
            <a:off x="256032" y="4606544"/>
            <a:ext cx="425196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7A36203-0FAD-5C6A-9B77-B9203C230F6E}"/>
              </a:ext>
            </a:extLst>
          </p:cNvPr>
          <p:cNvSpPr txBox="1"/>
          <p:nvPr/>
        </p:nvSpPr>
        <p:spPr>
          <a:xfrm>
            <a:off x="301752" y="4733552"/>
            <a:ext cx="2282997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+mj-lt"/>
              </a:rPr>
              <a:t>Governance &amp; Compliance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A3A3310-B379-B224-2566-DD84A52ECF75}"/>
              </a:ext>
            </a:extLst>
          </p:cNvPr>
          <p:cNvSpPr/>
          <p:nvPr/>
        </p:nvSpPr>
        <p:spPr>
          <a:xfrm>
            <a:off x="4507992" y="4606544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ED61FBDE-7D52-FE32-09B6-2C885ACEFCB2}"/>
              </a:ext>
            </a:extLst>
          </p:cNvPr>
          <p:cNvSpPr txBox="1"/>
          <p:nvPr/>
        </p:nvSpPr>
        <p:spPr>
          <a:xfrm>
            <a:off x="5097624" y="4733552"/>
            <a:ext cx="649537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₦1.5M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29D8B0B-CA7C-F0A3-C2A3-25F257A92FAE}"/>
              </a:ext>
            </a:extLst>
          </p:cNvPr>
          <p:cNvSpPr/>
          <p:nvPr/>
        </p:nvSpPr>
        <p:spPr>
          <a:xfrm>
            <a:off x="6336792" y="4606544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0255956-D9C4-7CCB-FEB3-5A593B5F99D7}"/>
              </a:ext>
            </a:extLst>
          </p:cNvPr>
          <p:cNvSpPr txBox="1"/>
          <p:nvPr/>
        </p:nvSpPr>
        <p:spPr>
          <a:xfrm>
            <a:off x="6990543" y="4678687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₦3M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C1F26A7-C40E-DDEB-B0E2-0108D527B497}"/>
              </a:ext>
            </a:extLst>
          </p:cNvPr>
          <p:cNvSpPr/>
          <p:nvPr/>
        </p:nvSpPr>
        <p:spPr>
          <a:xfrm>
            <a:off x="8165592" y="4606544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D0BD77A-A2C0-D248-BE72-6792838D8305}"/>
              </a:ext>
            </a:extLst>
          </p:cNvPr>
          <p:cNvSpPr txBox="1"/>
          <p:nvPr/>
        </p:nvSpPr>
        <p:spPr>
          <a:xfrm>
            <a:off x="8776864" y="4678687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₦15M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05D928C-5B08-EC10-67CC-83B777FC354C}"/>
              </a:ext>
            </a:extLst>
          </p:cNvPr>
          <p:cNvSpPr/>
          <p:nvPr/>
        </p:nvSpPr>
        <p:spPr>
          <a:xfrm>
            <a:off x="9994392" y="4606544"/>
            <a:ext cx="1911095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A1C253C-4E20-DE74-D2E2-69FC49544EF4}"/>
              </a:ext>
            </a:extLst>
          </p:cNvPr>
          <p:cNvSpPr txBox="1"/>
          <p:nvPr/>
        </p:nvSpPr>
        <p:spPr>
          <a:xfrm>
            <a:off x="10582692" y="4637209"/>
            <a:ext cx="73449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4BC344"/>
                </a:solidFill>
                <a:latin typeface="+mj-lt"/>
              </a:rPr>
              <a:t>₦19.5M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8825333-4F3A-E0F6-8E53-782C6BDCD4DD}"/>
              </a:ext>
            </a:extLst>
          </p:cNvPr>
          <p:cNvSpPr/>
          <p:nvPr/>
        </p:nvSpPr>
        <p:spPr>
          <a:xfrm>
            <a:off x="256032" y="4944872"/>
            <a:ext cx="425196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E6C6536-3778-F4F9-3DB6-1A8E3B8AB705}"/>
              </a:ext>
            </a:extLst>
          </p:cNvPr>
          <p:cNvSpPr txBox="1"/>
          <p:nvPr/>
        </p:nvSpPr>
        <p:spPr>
          <a:xfrm>
            <a:off x="301752" y="5071880"/>
            <a:ext cx="3090911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i="0">
                <a:solidFill>
                  <a:srgbClr val="F5F8FC"/>
                </a:solidFill>
                <a:latin typeface="+mj-lt"/>
              </a:rPr>
              <a:t>Threat Detection &amp; Security Operations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3D99182-1B82-3FD8-2FC9-1305042B18C7}"/>
              </a:ext>
            </a:extLst>
          </p:cNvPr>
          <p:cNvSpPr/>
          <p:nvPr/>
        </p:nvSpPr>
        <p:spPr>
          <a:xfrm>
            <a:off x="4507992" y="4944872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22FAD53-479D-59CC-55C1-93C76B5CDF4F}"/>
              </a:ext>
            </a:extLst>
          </p:cNvPr>
          <p:cNvSpPr txBox="1"/>
          <p:nvPr/>
        </p:nvSpPr>
        <p:spPr>
          <a:xfrm>
            <a:off x="5161743" y="5017015"/>
            <a:ext cx="52129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₦2M</a:t>
            </a: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00D4995-97C9-1D3F-BCF4-B29B898682C3}"/>
              </a:ext>
            </a:extLst>
          </p:cNvPr>
          <p:cNvSpPr/>
          <p:nvPr/>
        </p:nvSpPr>
        <p:spPr>
          <a:xfrm>
            <a:off x="6336792" y="4944872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554027B-90BD-18BF-51B8-2AC56A4BE6A7}"/>
              </a:ext>
            </a:extLst>
          </p:cNvPr>
          <p:cNvSpPr txBox="1"/>
          <p:nvPr/>
        </p:nvSpPr>
        <p:spPr>
          <a:xfrm>
            <a:off x="6948064" y="5017015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₦12M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436FACE9-D07C-BD1D-EDA5-BABB481A0B20}"/>
              </a:ext>
            </a:extLst>
          </p:cNvPr>
          <p:cNvSpPr/>
          <p:nvPr/>
        </p:nvSpPr>
        <p:spPr>
          <a:xfrm>
            <a:off x="8165592" y="4944872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5B74CF8-EBF8-3E63-6DFC-B1FECC17E379}"/>
              </a:ext>
            </a:extLst>
          </p:cNvPr>
          <p:cNvSpPr txBox="1"/>
          <p:nvPr/>
        </p:nvSpPr>
        <p:spPr>
          <a:xfrm>
            <a:off x="8776864" y="5017015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F5F8FC"/>
                </a:solidFill>
                <a:latin typeface="+mj-lt"/>
              </a:rPr>
              <a:t>₦10M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83C07D3F-8179-5A5D-BE32-42F30FD2E38C}"/>
              </a:ext>
            </a:extLst>
          </p:cNvPr>
          <p:cNvSpPr/>
          <p:nvPr/>
        </p:nvSpPr>
        <p:spPr>
          <a:xfrm>
            <a:off x="9994392" y="4944872"/>
            <a:ext cx="1911095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B8D16CC-AE18-3BAE-AE6B-400BE9DC7AA4}"/>
              </a:ext>
            </a:extLst>
          </p:cNvPr>
          <p:cNvSpPr txBox="1"/>
          <p:nvPr/>
        </p:nvSpPr>
        <p:spPr>
          <a:xfrm>
            <a:off x="10646812" y="4975537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4BC344"/>
                </a:solidFill>
                <a:latin typeface="+mj-lt"/>
              </a:rPr>
              <a:t>₦24M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8182863-30F5-26DE-A5D0-3F4739995828}"/>
              </a:ext>
            </a:extLst>
          </p:cNvPr>
          <p:cNvSpPr/>
          <p:nvPr/>
        </p:nvSpPr>
        <p:spPr>
          <a:xfrm>
            <a:off x="256032" y="5283199"/>
            <a:ext cx="425196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577B55C-D8F7-F005-3C90-057346C4D096}"/>
              </a:ext>
            </a:extLst>
          </p:cNvPr>
          <p:cNvSpPr txBox="1"/>
          <p:nvPr/>
        </p:nvSpPr>
        <p:spPr>
          <a:xfrm>
            <a:off x="301752" y="5410207"/>
            <a:ext cx="1552028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00" b="1" i="0">
                <a:solidFill>
                  <a:srgbClr val="24B1F5"/>
                </a:solidFill>
                <a:latin typeface="+mj-lt"/>
              </a:rPr>
              <a:t>TOTAL INVESTMENT</a:t>
            </a: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69AD9E63-1084-C842-A79E-F82AA883D5E5}"/>
              </a:ext>
            </a:extLst>
          </p:cNvPr>
          <p:cNvSpPr/>
          <p:nvPr/>
        </p:nvSpPr>
        <p:spPr>
          <a:xfrm>
            <a:off x="4507992" y="5283199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519E2BB-40F9-8DB0-999C-D1606F2BABB6}"/>
              </a:ext>
            </a:extLst>
          </p:cNvPr>
          <p:cNvSpPr txBox="1"/>
          <p:nvPr/>
        </p:nvSpPr>
        <p:spPr>
          <a:xfrm>
            <a:off x="5054343" y="5355342"/>
            <a:ext cx="7360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4B1F5"/>
                </a:solidFill>
                <a:latin typeface="+mj-lt"/>
              </a:rPr>
              <a:t>₦23.5M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FA35681B-1273-67D9-DAFE-62C8DDB9B5C4}"/>
              </a:ext>
            </a:extLst>
          </p:cNvPr>
          <p:cNvSpPr/>
          <p:nvPr/>
        </p:nvSpPr>
        <p:spPr>
          <a:xfrm>
            <a:off x="6336792" y="5283199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D333CC80-2BE5-BC7B-841C-6024C7DE702A}"/>
              </a:ext>
            </a:extLst>
          </p:cNvPr>
          <p:cNvSpPr txBox="1"/>
          <p:nvPr/>
        </p:nvSpPr>
        <p:spPr>
          <a:xfrm>
            <a:off x="6948064" y="5355342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4B1F5"/>
                </a:solidFill>
                <a:latin typeface="+mj-lt"/>
              </a:rPr>
              <a:t>₦29M</a:t>
            </a: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85A1E5FC-E79B-0E4D-1B81-E47AF7D98E08}"/>
              </a:ext>
            </a:extLst>
          </p:cNvPr>
          <p:cNvSpPr/>
          <p:nvPr/>
        </p:nvSpPr>
        <p:spPr>
          <a:xfrm>
            <a:off x="8165592" y="5283199"/>
            <a:ext cx="1828800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8201ADA3-57BE-68BD-D42C-288DA0D1E679}"/>
              </a:ext>
            </a:extLst>
          </p:cNvPr>
          <p:cNvSpPr txBox="1"/>
          <p:nvPr/>
        </p:nvSpPr>
        <p:spPr>
          <a:xfrm>
            <a:off x="8776864" y="5313864"/>
            <a:ext cx="606256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4B1F5"/>
                </a:solidFill>
                <a:latin typeface="+mj-lt"/>
              </a:rPr>
              <a:t>₦36M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FECB6811-FB5B-CD84-5E25-A2C3E30B38AD}"/>
              </a:ext>
            </a:extLst>
          </p:cNvPr>
          <p:cNvSpPr/>
          <p:nvPr/>
        </p:nvSpPr>
        <p:spPr>
          <a:xfrm>
            <a:off x="9994392" y="5283199"/>
            <a:ext cx="1911095" cy="338328"/>
          </a:xfrm>
          <a:prstGeom prst="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 b="1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CD5B777-3824-146F-0366-31826EDA1F5E}"/>
              </a:ext>
            </a:extLst>
          </p:cNvPr>
          <p:cNvSpPr txBox="1"/>
          <p:nvPr/>
        </p:nvSpPr>
        <p:spPr>
          <a:xfrm>
            <a:off x="10581890" y="5313864"/>
            <a:ext cx="736099" cy="276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200" b="1" i="0">
                <a:solidFill>
                  <a:srgbClr val="24B1F5"/>
                </a:solidFill>
                <a:latin typeface="+mj-lt"/>
              </a:rPr>
              <a:t>₦88.5M</a:t>
            </a:r>
          </a:p>
        </p:txBody>
      </p:sp>
      <p:sp>
        <p:nvSpPr>
          <p:cNvPr id="155" name="Rounded Rectangle 99">
            <a:extLst>
              <a:ext uri="{FF2B5EF4-FFF2-40B4-BE49-F238E27FC236}">
                <a16:creationId xmlns:a16="http://schemas.microsoft.com/office/drawing/2014/main" id="{405CB5DA-DD01-34F8-7DFE-B196EFB234B4}"/>
              </a:ext>
            </a:extLst>
          </p:cNvPr>
          <p:cNvSpPr/>
          <p:nvPr/>
        </p:nvSpPr>
        <p:spPr>
          <a:xfrm>
            <a:off x="475488" y="5989320"/>
            <a:ext cx="10835640" cy="420624"/>
          </a:xfrm>
          <a:prstGeom prst="roundRect">
            <a:avLst/>
          </a:prstGeom>
          <a:solidFill>
            <a:srgbClr val="072346"/>
          </a:solidFill>
          <a:ln>
            <a:solidFill>
              <a:srgbClr val="285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3D558E9-F5F6-D28D-4391-0C6883A04929}"/>
              </a:ext>
            </a:extLst>
          </p:cNvPr>
          <p:cNvSpPr txBox="1"/>
          <p:nvPr/>
        </p:nvSpPr>
        <p:spPr>
          <a:xfrm>
            <a:off x="1701058" y="6005823"/>
            <a:ext cx="8393644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b="1" dirty="0">
                <a:solidFill>
                  <a:srgbClr val="FFFF00"/>
                </a:solidFill>
                <a:latin typeface="+mj-lt"/>
              </a:rPr>
              <a:t>A strategic investment today for a resilient, secure and mission-ready DIC.</a:t>
            </a: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54ED4760-EF6D-C1E0-0BEB-3304E8785830}"/>
              </a:ext>
            </a:extLst>
          </p:cNvPr>
          <p:cNvGrpSpPr/>
          <p:nvPr/>
        </p:nvGrpSpPr>
        <p:grpSpPr>
          <a:xfrm>
            <a:off x="262989" y="982662"/>
            <a:ext cx="9427765" cy="440374"/>
            <a:chOff x="262989" y="982662"/>
            <a:chExt cx="9427765" cy="440374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368F4144-251F-79C9-918A-463745E91EE4}"/>
                </a:ext>
              </a:extLst>
            </p:cNvPr>
            <p:cNvSpPr/>
            <p:nvPr/>
          </p:nvSpPr>
          <p:spPr>
            <a:xfrm>
              <a:off x="384048" y="1391032"/>
              <a:ext cx="1005840" cy="3200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1FB92BAB-2BD3-6BA8-820D-4E9BBC62D408}"/>
                </a:ext>
              </a:extLst>
            </p:cNvPr>
            <p:cNvSpPr txBox="1"/>
            <p:nvPr/>
          </p:nvSpPr>
          <p:spPr>
            <a:xfrm>
              <a:off x="262989" y="982662"/>
              <a:ext cx="942776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800" b="1" i="0" dirty="0">
                  <a:solidFill>
                    <a:srgbClr val="FFFF00"/>
                  </a:solidFill>
                  <a:latin typeface="+mj-lt"/>
                </a:rPr>
                <a:t>3-YEAR INVESTMENT PLAN (CAPEX + OPEX)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9632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33871" y="6342188"/>
            <a:ext cx="838199" cy="376440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14</a:t>
            </a:fld>
            <a:endParaRPr lang="x-none" dirty="0">
              <a:solidFill>
                <a:srgbClr val="FFFF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30B8AB8-D9C8-4639-88C4-41EDE0636C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BUSINESS ENABLEMENT &amp; MISSION VALUE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ED76F5-C14A-44C5-EBB6-A97769B5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2" name="Rounded Rectangle 5">
            <a:extLst>
              <a:ext uri="{FF2B5EF4-FFF2-40B4-BE49-F238E27FC236}">
                <a16:creationId xmlns:a16="http://schemas.microsoft.com/office/drawing/2014/main" id="{DB9E1058-6320-CC9C-D7EA-8127659698A0}"/>
              </a:ext>
            </a:extLst>
          </p:cNvPr>
          <p:cNvSpPr/>
          <p:nvPr/>
        </p:nvSpPr>
        <p:spPr>
          <a:xfrm>
            <a:off x="384048" y="1771650"/>
            <a:ext cx="2761488" cy="3246120"/>
          </a:xfrm>
          <a:prstGeom prst="roundRect">
            <a:avLst/>
          </a:prstGeom>
          <a:solidFill>
            <a:srgbClr val="081F3D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19B58-1182-5E4C-3D56-EFFB156C53F0}"/>
              </a:ext>
            </a:extLst>
          </p:cNvPr>
          <p:cNvSpPr txBox="1"/>
          <p:nvPr/>
        </p:nvSpPr>
        <p:spPr>
          <a:xfrm>
            <a:off x="1133530" y="1983076"/>
            <a:ext cx="1262526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i="0">
                <a:solidFill>
                  <a:srgbClr val="E05858"/>
                </a:solidFill>
                <a:latin typeface="Aptos"/>
              </a:rPr>
              <a:t>PROTECT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4E541A-2136-01FC-9F7C-7CB9738D8341}"/>
              </a:ext>
            </a:extLst>
          </p:cNvPr>
          <p:cNvSpPr txBox="1"/>
          <p:nvPr/>
        </p:nvSpPr>
        <p:spPr>
          <a:xfrm>
            <a:off x="539745" y="2625051"/>
            <a:ext cx="2450094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 dirty="0">
                <a:solidFill>
                  <a:srgbClr val="F5F8FC"/>
                </a:solidFill>
                <a:latin typeface="Aptos"/>
              </a:rPr>
              <a:t>Intelligence &amp; information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FD847-047B-6E2C-EB0A-E39D250F55AA}"/>
              </a:ext>
            </a:extLst>
          </p:cNvPr>
          <p:cNvSpPr txBox="1"/>
          <p:nvPr/>
        </p:nvSpPr>
        <p:spPr>
          <a:xfrm>
            <a:off x="690050" y="3332264"/>
            <a:ext cx="2149483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 dirty="0">
                <a:solidFill>
                  <a:srgbClr val="AEC1D6"/>
                </a:solidFill>
                <a:latin typeface="Aptos"/>
              </a:rPr>
              <a:t>Reduce </a:t>
            </a:r>
            <a:r>
              <a:rPr sz="1400" b="0" i="0" dirty="0" err="1">
                <a:solidFill>
                  <a:srgbClr val="AEC1D6"/>
                </a:solidFill>
                <a:latin typeface="Aptos"/>
              </a:rPr>
              <a:t>unauthori</a:t>
            </a:r>
            <a:r>
              <a:rPr lang="en-US" sz="1400" dirty="0" err="1">
                <a:solidFill>
                  <a:srgbClr val="AEC1D6"/>
                </a:solidFill>
                <a:latin typeface="Aptos"/>
              </a:rPr>
              <a:t>Z</a:t>
            </a:r>
            <a:r>
              <a:rPr sz="1400" b="0" i="0" dirty="0" err="1">
                <a:solidFill>
                  <a:srgbClr val="AEC1D6"/>
                </a:solidFill>
                <a:latin typeface="Aptos"/>
              </a:rPr>
              <a:t>ed</a:t>
            </a:r>
            <a:r>
              <a:rPr sz="1400" b="0" i="0" dirty="0">
                <a:solidFill>
                  <a:srgbClr val="AEC1D6"/>
                </a:solidFill>
                <a:latin typeface="Aptos"/>
              </a:rPr>
              <a:t> access, manipulation and disclosure.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6222F09E-483A-94D3-CB62-5440BCBF39A5}"/>
              </a:ext>
            </a:extLst>
          </p:cNvPr>
          <p:cNvSpPr/>
          <p:nvPr/>
        </p:nvSpPr>
        <p:spPr>
          <a:xfrm>
            <a:off x="3300984" y="1771650"/>
            <a:ext cx="2761488" cy="3246120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C02D62-64B4-6939-C22F-CC314A977072}"/>
              </a:ext>
            </a:extLst>
          </p:cNvPr>
          <p:cNvSpPr txBox="1"/>
          <p:nvPr/>
        </p:nvSpPr>
        <p:spPr>
          <a:xfrm>
            <a:off x="3972688" y="1983076"/>
            <a:ext cx="1418081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i="0">
                <a:solidFill>
                  <a:srgbClr val="1FA8EE"/>
                </a:solidFill>
                <a:latin typeface="Aptos"/>
              </a:rPr>
              <a:t>PRESERVE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9F2252-0162-C5F2-EFC1-3090392082BD}"/>
              </a:ext>
            </a:extLst>
          </p:cNvPr>
          <p:cNvSpPr txBox="1"/>
          <p:nvPr/>
        </p:nvSpPr>
        <p:spPr>
          <a:xfrm>
            <a:off x="3610216" y="2625051"/>
            <a:ext cx="2143023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Operational continuity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30D815-F4DF-D869-E0E8-D1441157E87F}"/>
              </a:ext>
            </a:extLst>
          </p:cNvPr>
          <p:cNvSpPr txBox="1"/>
          <p:nvPr/>
        </p:nvSpPr>
        <p:spPr>
          <a:xfrm>
            <a:off x="3467004" y="3332264"/>
            <a:ext cx="2628996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 dirty="0">
                <a:solidFill>
                  <a:srgbClr val="AEC1D6"/>
                </a:solidFill>
                <a:latin typeface="Aptos"/>
              </a:rPr>
              <a:t>Strengthen backup, recovery, incident response and monitoring.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C79D8BDE-6046-C9E9-C546-95EE0B737E99}"/>
              </a:ext>
            </a:extLst>
          </p:cNvPr>
          <p:cNvSpPr/>
          <p:nvPr/>
        </p:nvSpPr>
        <p:spPr>
          <a:xfrm>
            <a:off x="6217920" y="1771650"/>
            <a:ext cx="2761488" cy="324612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9C3CBA-1646-35B2-5442-D18275FAEB6C}"/>
              </a:ext>
            </a:extLst>
          </p:cNvPr>
          <p:cNvSpPr txBox="1"/>
          <p:nvPr/>
        </p:nvSpPr>
        <p:spPr>
          <a:xfrm>
            <a:off x="7041460" y="1983076"/>
            <a:ext cx="1114408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i="0" dirty="0">
                <a:solidFill>
                  <a:srgbClr val="48C269"/>
                </a:solidFill>
                <a:latin typeface="Aptos"/>
              </a:rPr>
              <a:t>ENABLE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42524-9CA2-C271-CBE0-F5A48368AF74}"/>
              </a:ext>
            </a:extLst>
          </p:cNvPr>
          <p:cNvSpPr txBox="1"/>
          <p:nvPr/>
        </p:nvSpPr>
        <p:spPr>
          <a:xfrm>
            <a:off x="6690723" y="2625051"/>
            <a:ext cx="1815883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Trust &amp; confidence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CA56B8-6785-7B5E-4C85-D0044DB6296C}"/>
              </a:ext>
            </a:extLst>
          </p:cNvPr>
          <p:cNvSpPr txBox="1"/>
          <p:nvPr/>
        </p:nvSpPr>
        <p:spPr>
          <a:xfrm>
            <a:off x="6373333" y="3332264"/>
            <a:ext cx="2450659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 dirty="0">
                <a:solidFill>
                  <a:srgbClr val="AEC1D6"/>
                </a:solidFill>
                <a:latin typeface="Aptos"/>
              </a:rPr>
              <a:t>Protect information entrusted to DIC by personnel and partners.</a:t>
            </a:r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FB0FC7D8-6EE1-8402-AEC9-DC6D207159C9}"/>
              </a:ext>
            </a:extLst>
          </p:cNvPr>
          <p:cNvSpPr/>
          <p:nvPr/>
        </p:nvSpPr>
        <p:spPr>
          <a:xfrm>
            <a:off x="9134856" y="1771650"/>
            <a:ext cx="2761488" cy="3246120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299AB3-C403-50E0-CADD-ECB9BCE5C7A2}"/>
              </a:ext>
            </a:extLst>
          </p:cNvPr>
          <p:cNvSpPr txBox="1"/>
          <p:nvPr/>
        </p:nvSpPr>
        <p:spPr>
          <a:xfrm>
            <a:off x="9913801" y="1983076"/>
            <a:ext cx="1203599" cy="40011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1" i="0">
                <a:solidFill>
                  <a:srgbClr val="F4B73A"/>
                </a:solidFill>
                <a:latin typeface="Aptos"/>
              </a:rPr>
              <a:t>SUSTAIN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A80EC8-A533-7C11-582C-8549CD172775}"/>
              </a:ext>
            </a:extLst>
          </p:cNvPr>
          <p:cNvSpPr txBox="1"/>
          <p:nvPr/>
        </p:nvSpPr>
        <p:spPr>
          <a:xfrm>
            <a:off x="9471949" y="2625051"/>
            <a:ext cx="2087303" cy="3231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Mission effectiveness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3884AB-ADDA-0FF4-1F76-779BEFFADED7}"/>
              </a:ext>
            </a:extLst>
          </p:cNvPr>
          <p:cNvSpPr txBox="1"/>
          <p:nvPr/>
        </p:nvSpPr>
        <p:spPr>
          <a:xfrm>
            <a:off x="9134856" y="3418014"/>
            <a:ext cx="2864432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 dirty="0">
                <a:solidFill>
                  <a:srgbClr val="AEC1D6"/>
                </a:solidFill>
                <a:latin typeface="Aptos"/>
              </a:rPr>
              <a:t>Maintain readiness and support uninterrupted intelligence training.</a:t>
            </a:r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46EE2440-CC95-A7BC-B845-2F5FFD4350AB}"/>
              </a:ext>
            </a:extLst>
          </p:cNvPr>
          <p:cNvSpPr/>
          <p:nvPr/>
        </p:nvSpPr>
        <p:spPr>
          <a:xfrm>
            <a:off x="713232" y="5401818"/>
            <a:ext cx="10744200" cy="658368"/>
          </a:xfrm>
          <a:prstGeom prst="roundRect">
            <a:avLst/>
          </a:prstGeom>
          <a:solidFill>
            <a:srgbClr val="062D2D"/>
          </a:solidFill>
          <a:ln>
            <a:solidFill>
              <a:srgbClr val="307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56ED7B3-662B-0D5C-E336-075D89CAFAE4}"/>
              </a:ext>
            </a:extLst>
          </p:cNvPr>
          <p:cNvSpPr txBox="1"/>
          <p:nvPr/>
        </p:nvSpPr>
        <p:spPr>
          <a:xfrm>
            <a:off x="740452" y="5558825"/>
            <a:ext cx="10680617" cy="30777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 i="0" dirty="0">
                <a:solidFill>
                  <a:srgbClr val="FFFF00"/>
                </a:solidFill>
                <a:latin typeface="Aptos"/>
              </a:rPr>
              <a:t>END STATE  |  A resilient institution capable of protecting information, maintaining readiness and delivering its mission effectively.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D8162CD-02AF-263A-D3CD-54FB7CCD3E2C}"/>
              </a:ext>
            </a:extLst>
          </p:cNvPr>
          <p:cNvGrpSpPr/>
          <p:nvPr/>
        </p:nvGrpSpPr>
        <p:grpSpPr>
          <a:xfrm>
            <a:off x="262989" y="982662"/>
            <a:ext cx="9427765" cy="440374"/>
            <a:chOff x="262989" y="982662"/>
            <a:chExt cx="9427765" cy="440374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AFE5941-993B-8CAB-0A58-675B64107273}"/>
                </a:ext>
              </a:extLst>
            </p:cNvPr>
            <p:cNvSpPr/>
            <p:nvPr/>
          </p:nvSpPr>
          <p:spPr>
            <a:xfrm>
              <a:off x="361188" y="1391032"/>
              <a:ext cx="1005840" cy="3200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1C81EE8-DCB2-E346-5632-A8EA99EDB06B}"/>
                </a:ext>
              </a:extLst>
            </p:cNvPr>
            <p:cNvSpPr txBox="1"/>
            <p:nvPr/>
          </p:nvSpPr>
          <p:spPr>
            <a:xfrm>
              <a:off x="262989" y="982662"/>
              <a:ext cx="942776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800" b="1" i="0" dirty="0">
                  <a:solidFill>
                    <a:srgbClr val="FFFF00"/>
                  </a:solidFill>
                  <a:latin typeface="+mj-lt"/>
                </a:rPr>
                <a:t>Security investment supports DIC's core intelligence-training mission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9766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463" y="6382512"/>
            <a:ext cx="525607" cy="336116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15</a:t>
            </a:fld>
            <a:endParaRPr lang="x-none" dirty="0">
              <a:solidFill>
                <a:srgbClr val="FFFF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30B8AB8-D9C8-4639-88C4-41EDE0636C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0225F88-8B71-3CA8-165D-32DFD09B5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5883" y="157435"/>
            <a:ext cx="11233804" cy="528036"/>
          </a:xfrm>
        </p:spPr>
        <p:txBody>
          <a:bodyPr/>
          <a:lstStyle/>
          <a:p>
            <a:pPr algn="ctr"/>
            <a:r>
              <a:rPr lang="en-US" sz="3200" b="1" u="sng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NEXT STEPS &amp; CALL TO ACTION</a:t>
            </a:r>
            <a:endParaRPr lang="x-none" sz="3200" b="1" u="sng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5ED76F5-C14A-44C5-EBB6-A97769B5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824126D7-69B4-009F-F854-DD7506034B27}"/>
              </a:ext>
            </a:extLst>
          </p:cNvPr>
          <p:cNvSpPr/>
          <p:nvPr/>
        </p:nvSpPr>
        <p:spPr>
          <a:xfrm>
            <a:off x="594360" y="1801368"/>
            <a:ext cx="6812280" cy="594360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DC196-7A67-20CA-15B9-16CFB93A5E89}"/>
              </a:ext>
            </a:extLst>
          </p:cNvPr>
          <p:cNvSpPr txBox="1"/>
          <p:nvPr/>
        </p:nvSpPr>
        <p:spPr>
          <a:xfrm>
            <a:off x="777071" y="1899553"/>
            <a:ext cx="4026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 dirty="0">
                <a:solidFill>
                  <a:srgbClr val="1FA8EE"/>
                </a:solidFill>
                <a:latin typeface="Aptos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B87733-0180-F17A-9274-CB46E5D2592C}"/>
              </a:ext>
            </a:extLst>
          </p:cNvPr>
          <p:cNvSpPr txBox="1"/>
          <p:nvPr/>
        </p:nvSpPr>
        <p:spPr>
          <a:xfrm>
            <a:off x="1298448" y="1899553"/>
            <a:ext cx="1078500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1FA8EE"/>
                </a:solidFill>
                <a:latin typeface="Aptos"/>
              </a:rPr>
              <a:t>APPROVE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A4D9A-2696-9E2D-653B-E468F0936041}"/>
              </a:ext>
            </a:extLst>
          </p:cNvPr>
          <p:cNvSpPr txBox="1"/>
          <p:nvPr/>
        </p:nvSpPr>
        <p:spPr>
          <a:xfrm>
            <a:off x="2816352" y="1908697"/>
            <a:ext cx="163070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Year 1 priorities</a:t>
            </a:r>
          </a:p>
        </p:txBody>
      </p:sp>
      <p:sp>
        <p:nvSpPr>
          <p:cNvPr id="8" name="Rounded Rectangle 9">
            <a:extLst>
              <a:ext uri="{FF2B5EF4-FFF2-40B4-BE49-F238E27FC236}">
                <a16:creationId xmlns:a16="http://schemas.microsoft.com/office/drawing/2014/main" id="{1DD4C46E-1D5F-1A85-84BB-07628DF70016}"/>
              </a:ext>
            </a:extLst>
          </p:cNvPr>
          <p:cNvSpPr/>
          <p:nvPr/>
        </p:nvSpPr>
        <p:spPr>
          <a:xfrm>
            <a:off x="594360" y="2551175"/>
            <a:ext cx="6812280" cy="594360"/>
          </a:xfrm>
          <a:prstGeom prst="roundRect">
            <a:avLst/>
          </a:prstGeom>
          <a:solidFill>
            <a:srgbClr val="081F3D"/>
          </a:solidFill>
          <a:ln>
            <a:solidFill>
              <a:srgbClr val="E05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5418EF-67D1-1B89-30D9-641C45DA9597}"/>
              </a:ext>
            </a:extLst>
          </p:cNvPr>
          <p:cNvSpPr txBox="1"/>
          <p:nvPr/>
        </p:nvSpPr>
        <p:spPr>
          <a:xfrm>
            <a:off x="777071" y="2649360"/>
            <a:ext cx="4026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E05858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F2BC5-8322-AD40-91C9-6C09F2266617}"/>
              </a:ext>
            </a:extLst>
          </p:cNvPr>
          <p:cNvSpPr txBox="1"/>
          <p:nvPr/>
        </p:nvSpPr>
        <p:spPr>
          <a:xfrm>
            <a:off x="1298448" y="2649360"/>
            <a:ext cx="146700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E05858"/>
                </a:solidFill>
                <a:latin typeface="Aptos"/>
              </a:rPr>
              <a:t>STRENGTHEN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34181-B191-3447-E044-9508B3575F8B}"/>
              </a:ext>
            </a:extLst>
          </p:cNvPr>
          <p:cNvSpPr txBox="1"/>
          <p:nvPr/>
        </p:nvSpPr>
        <p:spPr>
          <a:xfrm>
            <a:off x="2816352" y="2658504"/>
            <a:ext cx="2426883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Specialist cyber staffing</a:t>
            </a: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6C479DCC-15E3-4418-D943-A9BC66E9D86A}"/>
              </a:ext>
            </a:extLst>
          </p:cNvPr>
          <p:cNvSpPr/>
          <p:nvPr/>
        </p:nvSpPr>
        <p:spPr>
          <a:xfrm>
            <a:off x="594360" y="3300983"/>
            <a:ext cx="6812280" cy="594360"/>
          </a:xfrm>
          <a:prstGeom prst="roundRect">
            <a:avLst/>
          </a:prstGeom>
          <a:solidFill>
            <a:srgbClr val="081F3D"/>
          </a:solidFill>
          <a:ln>
            <a:solidFill>
              <a:srgbClr val="F4B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E5125-7F39-B0AB-FBA3-6DF2FEAF79F0}"/>
              </a:ext>
            </a:extLst>
          </p:cNvPr>
          <p:cNvSpPr txBox="1"/>
          <p:nvPr/>
        </p:nvSpPr>
        <p:spPr>
          <a:xfrm>
            <a:off x="777071" y="3399168"/>
            <a:ext cx="4026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F4B73A"/>
                </a:solidFill>
                <a:latin typeface="Aptos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77F9C-BEED-C0E3-2FF0-F4285D745E77}"/>
              </a:ext>
            </a:extLst>
          </p:cNvPr>
          <p:cNvSpPr txBox="1"/>
          <p:nvPr/>
        </p:nvSpPr>
        <p:spPr>
          <a:xfrm>
            <a:off x="1298448" y="3399168"/>
            <a:ext cx="128535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4B73A"/>
                </a:solidFill>
                <a:latin typeface="Aptos"/>
              </a:rPr>
              <a:t>AUTHORISE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BD08E6-6B64-C2DD-CD00-8C9F7C26204F}"/>
              </a:ext>
            </a:extLst>
          </p:cNvPr>
          <p:cNvSpPr txBox="1"/>
          <p:nvPr/>
        </p:nvSpPr>
        <p:spPr>
          <a:xfrm>
            <a:off x="2816352" y="3408312"/>
            <a:ext cx="4528356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Comprehensive testing of appropriate systems</a:t>
            </a:r>
          </a:p>
        </p:txBody>
      </p:sp>
      <p:sp>
        <p:nvSpPr>
          <p:cNvPr id="17" name="Rounded Rectangle 17">
            <a:extLst>
              <a:ext uri="{FF2B5EF4-FFF2-40B4-BE49-F238E27FC236}">
                <a16:creationId xmlns:a16="http://schemas.microsoft.com/office/drawing/2014/main" id="{8CE72074-5B55-724D-A303-88AEF7BCF598}"/>
              </a:ext>
            </a:extLst>
          </p:cNvPr>
          <p:cNvSpPr/>
          <p:nvPr/>
        </p:nvSpPr>
        <p:spPr>
          <a:xfrm>
            <a:off x="594360" y="4050792"/>
            <a:ext cx="6812280" cy="594360"/>
          </a:xfrm>
          <a:prstGeom prst="roundRect">
            <a:avLst/>
          </a:prstGeom>
          <a:solidFill>
            <a:srgbClr val="081F3D"/>
          </a:solidFill>
          <a:ln>
            <a:solidFill>
              <a:srgbClr val="4B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9DCC38-CFE1-5828-C11C-7F778FA0288E}"/>
              </a:ext>
            </a:extLst>
          </p:cNvPr>
          <p:cNvSpPr txBox="1"/>
          <p:nvPr/>
        </p:nvSpPr>
        <p:spPr>
          <a:xfrm>
            <a:off x="777071" y="4148977"/>
            <a:ext cx="4026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4BCAFF"/>
                </a:solidFill>
                <a:latin typeface="Aptos"/>
              </a:rPr>
              <a:t>04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6D0227-96EE-D036-8458-9B019AD27F9C}"/>
              </a:ext>
            </a:extLst>
          </p:cNvPr>
          <p:cNvSpPr txBox="1"/>
          <p:nvPr/>
        </p:nvSpPr>
        <p:spPr>
          <a:xfrm>
            <a:off x="1298448" y="4148977"/>
            <a:ext cx="105605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4BCAFF"/>
                </a:solidFill>
                <a:latin typeface="Aptos"/>
              </a:rPr>
              <a:t>IMPROVE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5C42D1-B65D-DE52-0B28-66F8CEEF8AE3}"/>
              </a:ext>
            </a:extLst>
          </p:cNvPr>
          <p:cNvSpPr txBox="1"/>
          <p:nvPr/>
        </p:nvSpPr>
        <p:spPr>
          <a:xfrm>
            <a:off x="2816352" y="4158120"/>
            <a:ext cx="353891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Centralised monitoring and analysis</a:t>
            </a:r>
          </a:p>
        </p:txBody>
      </p:sp>
      <p:sp>
        <p:nvSpPr>
          <p:cNvPr id="23" name="Rounded Rectangle 21">
            <a:extLst>
              <a:ext uri="{FF2B5EF4-FFF2-40B4-BE49-F238E27FC236}">
                <a16:creationId xmlns:a16="http://schemas.microsoft.com/office/drawing/2014/main" id="{1CBBD643-7930-4362-18A1-774F5A1BF711}"/>
              </a:ext>
            </a:extLst>
          </p:cNvPr>
          <p:cNvSpPr/>
          <p:nvPr/>
        </p:nvSpPr>
        <p:spPr>
          <a:xfrm>
            <a:off x="594360" y="4800599"/>
            <a:ext cx="6812280" cy="594360"/>
          </a:xfrm>
          <a:prstGeom prst="roundRect">
            <a:avLst/>
          </a:prstGeom>
          <a:solidFill>
            <a:srgbClr val="081F3D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5927D0-36D5-5E20-5E4C-DB87F71D9666}"/>
              </a:ext>
            </a:extLst>
          </p:cNvPr>
          <p:cNvSpPr txBox="1"/>
          <p:nvPr/>
        </p:nvSpPr>
        <p:spPr>
          <a:xfrm>
            <a:off x="777071" y="4898784"/>
            <a:ext cx="402675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48C269"/>
                </a:solidFill>
                <a:latin typeface="Aptos"/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84A9AC-F146-1041-FB82-DB50BF614736}"/>
              </a:ext>
            </a:extLst>
          </p:cNvPr>
          <p:cNvSpPr txBox="1"/>
          <p:nvPr/>
        </p:nvSpPr>
        <p:spPr>
          <a:xfrm>
            <a:off x="1298448" y="4898784"/>
            <a:ext cx="1206612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48C269"/>
                </a:solidFill>
                <a:latin typeface="Aptos"/>
              </a:rPr>
              <a:t>AUTOMATE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8739A1-326E-178C-9BF3-9D535A7FBE96}"/>
              </a:ext>
            </a:extLst>
          </p:cNvPr>
          <p:cNvSpPr txBox="1"/>
          <p:nvPr/>
        </p:nvSpPr>
        <p:spPr>
          <a:xfrm>
            <a:off x="2816352" y="4907929"/>
            <a:ext cx="3527569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Compliance tracking and assurance</a:t>
            </a:r>
          </a:p>
        </p:txBody>
      </p:sp>
      <p:sp>
        <p:nvSpPr>
          <p:cNvPr id="27" name="Rounded Rectangle 25">
            <a:extLst>
              <a:ext uri="{FF2B5EF4-FFF2-40B4-BE49-F238E27FC236}">
                <a16:creationId xmlns:a16="http://schemas.microsoft.com/office/drawing/2014/main" id="{1CE092C6-73A4-9262-9BE5-26160FE6616C}"/>
              </a:ext>
            </a:extLst>
          </p:cNvPr>
          <p:cNvSpPr/>
          <p:nvPr/>
        </p:nvSpPr>
        <p:spPr>
          <a:xfrm>
            <a:off x="7818120" y="1801368"/>
            <a:ext cx="3840480" cy="4343400"/>
          </a:xfrm>
          <a:prstGeom prst="roundRect">
            <a:avLst/>
          </a:prstGeom>
          <a:solidFill>
            <a:srgbClr val="062D2D"/>
          </a:solidFill>
          <a:ln>
            <a:solidFill>
              <a:srgbClr val="307E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22DB8C-EFC0-D58C-E5A1-7D6A989DB37B}"/>
              </a:ext>
            </a:extLst>
          </p:cNvPr>
          <p:cNvSpPr txBox="1"/>
          <p:nvPr/>
        </p:nvSpPr>
        <p:spPr>
          <a:xfrm>
            <a:off x="8157446" y="2046024"/>
            <a:ext cx="3161828" cy="4616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400" b="1" i="0" dirty="0">
                <a:solidFill>
                  <a:srgbClr val="48C269"/>
                </a:solidFill>
                <a:latin typeface="Aptos"/>
              </a:rPr>
              <a:t>DECISION REQUIRED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4A1212-BB0C-176C-0FC8-C668E61F1387}"/>
              </a:ext>
            </a:extLst>
          </p:cNvPr>
          <p:cNvSpPr txBox="1"/>
          <p:nvPr/>
        </p:nvSpPr>
        <p:spPr>
          <a:xfrm>
            <a:off x="8463139" y="2990641"/>
            <a:ext cx="2550442" cy="83099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F5F8FC"/>
                </a:solidFill>
                <a:latin typeface="Aptos"/>
              </a:rPr>
              <a:t>Approve the
three-year security
improvement programme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102ECB-0971-AF0A-8A94-9C92C1E8E7BA}"/>
              </a:ext>
            </a:extLst>
          </p:cNvPr>
          <p:cNvSpPr txBox="1"/>
          <p:nvPr/>
        </p:nvSpPr>
        <p:spPr>
          <a:xfrm>
            <a:off x="8889133" y="4531071"/>
            <a:ext cx="1689309" cy="58477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>
                <a:solidFill>
                  <a:srgbClr val="4BCAFF"/>
                </a:solidFill>
                <a:latin typeface="Aptos"/>
              </a:rPr>
              <a:t>and initiate
Year 1 priorities.</a:t>
            </a:r>
          </a:p>
        </p:txBody>
      </p:sp>
      <p:sp>
        <p:nvSpPr>
          <p:cNvPr id="31" name="Rounded Rectangle 29">
            <a:extLst>
              <a:ext uri="{FF2B5EF4-FFF2-40B4-BE49-F238E27FC236}">
                <a16:creationId xmlns:a16="http://schemas.microsoft.com/office/drawing/2014/main" id="{F5019D49-8C55-D3AE-DD5A-54950B8276EE}"/>
              </a:ext>
            </a:extLst>
          </p:cNvPr>
          <p:cNvSpPr/>
          <p:nvPr/>
        </p:nvSpPr>
        <p:spPr>
          <a:xfrm>
            <a:off x="8211312" y="5349240"/>
            <a:ext cx="3063240" cy="420624"/>
          </a:xfrm>
          <a:prstGeom prst="roundRect">
            <a:avLst/>
          </a:prstGeom>
          <a:solidFill>
            <a:srgbClr val="48C269"/>
          </a:solidFill>
          <a:ln>
            <a:solidFill>
              <a:srgbClr val="48C2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D53CBB-E41E-E4A6-ADFC-9AE045B2A3B9}"/>
              </a:ext>
            </a:extLst>
          </p:cNvPr>
          <p:cNvSpPr txBox="1"/>
          <p:nvPr/>
        </p:nvSpPr>
        <p:spPr>
          <a:xfrm>
            <a:off x="8242053" y="5408563"/>
            <a:ext cx="2992614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 dirty="0">
                <a:solidFill>
                  <a:srgbClr val="05142B"/>
                </a:solidFill>
                <a:latin typeface="Aptos"/>
              </a:rPr>
              <a:t>FROM ASSESSMENT → ACTION</a:t>
            </a:r>
          </a:p>
        </p:txBody>
      </p:sp>
      <p:sp>
        <p:nvSpPr>
          <p:cNvPr id="33" name="Rounded Rectangle 31">
            <a:extLst>
              <a:ext uri="{FF2B5EF4-FFF2-40B4-BE49-F238E27FC236}">
                <a16:creationId xmlns:a16="http://schemas.microsoft.com/office/drawing/2014/main" id="{EB85672E-1493-5A02-CEB2-872CB55C8910}"/>
              </a:ext>
            </a:extLst>
          </p:cNvPr>
          <p:cNvSpPr/>
          <p:nvPr/>
        </p:nvSpPr>
        <p:spPr>
          <a:xfrm>
            <a:off x="594360" y="5788152"/>
            <a:ext cx="6812280" cy="594360"/>
          </a:xfrm>
          <a:prstGeom prst="roundRect">
            <a:avLst/>
          </a:prstGeom>
          <a:solidFill>
            <a:srgbClr val="081F3D"/>
          </a:solidFill>
          <a:ln>
            <a:solidFill>
              <a:srgbClr val="1FA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73F3F8-1F9D-156D-1968-78D2E12DE2A8}"/>
              </a:ext>
            </a:extLst>
          </p:cNvPr>
          <p:cNvSpPr txBox="1"/>
          <p:nvPr/>
        </p:nvSpPr>
        <p:spPr>
          <a:xfrm>
            <a:off x="1176874" y="5902339"/>
            <a:ext cx="5647251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 i="0" dirty="0">
                <a:solidFill>
                  <a:srgbClr val="FFFF00"/>
                </a:solidFill>
                <a:latin typeface="Aptos"/>
              </a:rPr>
              <a:t>Protect readiness. Preserve resilience. Enable the mission.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E249858-B68E-9B4E-C01D-8E7A43F3445D}"/>
              </a:ext>
            </a:extLst>
          </p:cNvPr>
          <p:cNvGrpSpPr/>
          <p:nvPr/>
        </p:nvGrpSpPr>
        <p:grpSpPr>
          <a:xfrm>
            <a:off x="262989" y="982662"/>
            <a:ext cx="9427765" cy="440374"/>
            <a:chOff x="262989" y="982662"/>
            <a:chExt cx="9427765" cy="44037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A9742D6-2442-D792-DB71-230D77F9E68B}"/>
                </a:ext>
              </a:extLst>
            </p:cNvPr>
            <p:cNvSpPr/>
            <p:nvPr/>
          </p:nvSpPr>
          <p:spPr>
            <a:xfrm>
              <a:off x="361188" y="1391032"/>
              <a:ext cx="1005840" cy="32004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2BEF3BC-FC53-1AB0-2843-A699DDEBF48F}"/>
                </a:ext>
              </a:extLst>
            </p:cNvPr>
            <p:cNvSpPr txBox="1"/>
            <p:nvPr/>
          </p:nvSpPr>
          <p:spPr>
            <a:xfrm>
              <a:off x="262989" y="982662"/>
              <a:ext cx="9427765" cy="369332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800" b="1" i="0" dirty="0">
                  <a:solidFill>
                    <a:srgbClr val="FFFF00"/>
                  </a:solidFill>
                  <a:latin typeface="+mj-lt"/>
                </a:rPr>
                <a:t>Decision slide - convert the assessment into authorized Year 1 action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176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86A2C7-A2AF-4582-8851-A55BBF014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6463" y="6382512"/>
            <a:ext cx="525607" cy="336116"/>
          </a:xfrm>
        </p:spPr>
        <p:txBody>
          <a:bodyPr/>
          <a:lstStyle/>
          <a:p>
            <a:fld id="{0640E3C0-C453-4EF2-AF19-A3A0E345BD11}" type="slidenum">
              <a:rPr lang="x-none" smtClean="0">
                <a:solidFill>
                  <a:srgbClr val="FFFF00"/>
                </a:solidFill>
              </a:rPr>
              <a:t>16</a:t>
            </a:fld>
            <a:endParaRPr lang="x-none" dirty="0">
              <a:solidFill>
                <a:srgbClr val="FFFF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30B8AB8-D9C8-4639-88C4-41EDE0636C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145" r="6575" b="2284"/>
          <a:stretch/>
        </p:blipFill>
        <p:spPr>
          <a:xfrm>
            <a:off x="96289" y="79534"/>
            <a:ext cx="438228" cy="450346"/>
          </a:xfrm>
          <a:prstGeom prst="flowChartConnector">
            <a:avLst/>
          </a:prstGeom>
          <a:ln w="38100">
            <a:solidFill>
              <a:srgbClr val="FFFF0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5ED76F5-C14A-44C5-EBB6-A97769B55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593" y="79534"/>
            <a:ext cx="525607" cy="5256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55406416-8177-C89C-7072-0E57A05FF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137" y="2620191"/>
            <a:ext cx="11695726" cy="1263737"/>
          </a:xfrm>
          <a:solidFill>
            <a:schemeClr val="accent1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/>
          <a:p>
            <a:pPr algn="ctr"/>
            <a:r>
              <a:rPr lang="en-US" sz="8000" b="1" dirty="0">
                <a:solidFill>
                  <a:srgbClr val="FFFF00"/>
                </a:solidFill>
                <a:latin typeface="Impact" panose="020B080603090205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INTERRACTIVE SESSION</a:t>
            </a:r>
            <a:endParaRPr lang="x-none" sz="8000" b="1" dirty="0">
              <a:solidFill>
                <a:srgbClr val="FFFF00"/>
              </a:solidFill>
              <a:latin typeface="Impact" panose="020B0806030902050204" pitchFamily="3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7129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4550</TotalTime>
  <Words>1394</Words>
  <Application>Microsoft Office PowerPoint</Application>
  <PresentationFormat>Widescreen</PresentationFormat>
  <Paragraphs>426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Microsoft YaHei</vt:lpstr>
      <vt:lpstr>Aptos</vt:lpstr>
      <vt:lpstr>Arial</vt:lpstr>
      <vt:lpstr>Calibri</vt:lpstr>
      <vt:lpstr>Century Gothic</vt:lpstr>
      <vt:lpstr>Impact</vt:lpstr>
      <vt:lpstr>Tahoma</vt:lpstr>
      <vt:lpstr>Times New Roman</vt:lpstr>
      <vt:lpstr>Wingdings</vt:lpstr>
      <vt:lpstr>Wingdings 3</vt:lpstr>
      <vt:lpstr>Ion</vt:lpstr>
      <vt:lpstr>CYBERSECURITY &amp; PHYSICAL SECURITY ASSESSMENT Defence Intelligence College (DIC) CCC299 Capstone  Project - Phase 2</vt:lpstr>
      <vt:lpstr>ENGAGEMENT OBJECTIVES AND SCOPE</vt:lpstr>
      <vt:lpstr>EXECUTIVE SUMMARY</vt:lpstr>
      <vt:lpstr>CURRENT THREAT LANDSCAPE</vt:lpstr>
      <vt:lpstr>KEY FINDINGS SUMMARY</vt:lpstr>
      <vt:lpstr>ENTERPRISE RISK HEATMAP</vt:lpstr>
      <vt:lpstr>CRITICAL RISK DEEP-DIVE</vt:lpstr>
      <vt:lpstr>CRITICAL RISK DEEP-DIVE #2</vt:lpstr>
      <vt:lpstr>REGULATORY COMPLIANCE &amp; LIABILITY</vt:lpstr>
      <vt:lpstr>THREE YEAR STRATEGIC ROADMAP</vt:lpstr>
      <vt:lpstr>YEAR 1 INITIATIVES (TACTICAL)</vt:lpstr>
      <vt:lpstr>YEAR 2 &amp; 3 (CAPABILITY MATURITY)</vt:lpstr>
      <vt:lpstr>FINANCIAL BUDGET &amp; ROI</vt:lpstr>
      <vt:lpstr>BUSINESS ENABLEMENT &amp; MISSION VALUE</vt:lpstr>
      <vt:lpstr>NEXT STEPS &amp; CALL TO ACTION</vt:lpstr>
      <vt:lpstr>INTERRACTIVE SESSION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bolaakanbi123@gmail.com</dc:creator>
  <cp:lastModifiedBy>bolaakanbi123@gmail.com</cp:lastModifiedBy>
  <cp:revision>10</cp:revision>
  <dcterms:created xsi:type="dcterms:W3CDTF">2026-08-10T08:10:03Z</dcterms:created>
  <dcterms:modified xsi:type="dcterms:W3CDTF">2026-08-14T21:09:02Z</dcterms:modified>
</cp:coreProperties>
</file>